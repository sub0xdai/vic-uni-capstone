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purple-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01" y="888950"/>
            <a:ext cx="8031682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</a:t>
            </a:r>
            <a:endParaRPr lang="en-US" sz="36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34901" y="3103662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Proposal and Design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34901" y="3748087"/>
            <a:ext cx="14608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Hailu Tesfaye 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s8137538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448074" y="3748087"/>
            <a:ext cx="16692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Palazzolo 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s8177269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465588" y="3748087"/>
            <a:ext cx="13446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Semir Abdu 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s4672665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64907" y="3748087"/>
            <a:ext cx="15424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Jamal Hussein </a:t>
            </a:r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s8081019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4901" y="4217789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 |  Victoria University  | 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4901" y="4781699"/>
            <a:ext cx="10680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Capstone Project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6267" y="253901"/>
            <a:ext cx="1246733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93968" y="418951"/>
            <a:ext cx="9091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HAILU TESFAYE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381000"/>
            <a:ext cx="8031682" cy="113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
</a:t>
            </a:r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ARE LOSING</a:t>
            </a:r>
            <a:endParaRPr lang="en-US" sz="26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GAME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34901" y="1773882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CONTENT CREATION IS BROKEN FOR SMEs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4901" y="2494508"/>
            <a:ext cx="382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34901" y="3151733"/>
            <a:ext cx="382153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small business owners identify content creation as their top marketing challenge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86313" y="2316659"/>
            <a:ext cx="0" cy="1068884"/>
          </a:xfrm>
          <a:prstGeom prst="line">
            <a:avLst/>
          </a:prstGeom>
          <a:noFill/>
          <a:ln w="47625">
            <a:solidFill>
              <a:srgbClr val="A100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62525" y="2557760"/>
            <a:ext cx="346205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time, no expertise, wrong tools. Generic AI requires prompt engineering skills most owners don't have.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purple-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6267" y="253901"/>
            <a:ext cx="1246733" cy="463451"/>
          </a:xfrm>
          <a:prstGeom prst="rect">
            <a:avLst/>
          </a:prstGeom>
          <a:solidFill>
            <a:srgbClr val="00B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93968" y="418951"/>
            <a:ext cx="9091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HAILU TESFAYE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507950"/>
            <a:ext cx="8031682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
</a:t>
            </a:r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CONTENT FOR EVERY BUSINESS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34901" y="1310432"/>
            <a:ext cx="803168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cloud-based SaaS platform that generates professional marketing content using generative AI — no technical expertise required.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4901" y="1955453"/>
            <a:ext cx="2523083" cy="130403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34901" y="1974503"/>
            <a:ext cx="2523083" cy="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602" y="2323654"/>
            <a:ext cx="22110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Captions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602" y="2647504"/>
            <a:ext cx="22110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On-brand, on-length, platform-specific with calls to action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10384" y="1955453"/>
            <a:ext cx="2523232" cy="130403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310384" y="1974503"/>
            <a:ext cx="2523232" cy="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8085" y="2323654"/>
            <a:ext cx="2211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Outlines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88085" y="2647504"/>
            <a:ext cx="22111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sections with intros, conclusions, and SEO focus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86016" y="1955453"/>
            <a:ext cx="2523083" cy="130403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986016" y="1974503"/>
            <a:ext cx="2523083" cy="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63717" y="2323654"/>
            <a:ext cx="22110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Newsletters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63717" y="2647504"/>
            <a:ext cx="22110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lines, body copy, and CTA buttons ready to send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53951" y="3462635"/>
            <a:ext cx="0" cy="549176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5401" y="3665786"/>
            <a:ext cx="76819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SaaS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secure isolation per business, cloud-deployed on Vercel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6267" y="253901"/>
            <a:ext cx="1246733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93968" y="418951"/>
            <a:ext cx="9091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HAILU TESFAYE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457200"/>
            <a:ext cx="8031682" cy="113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SCOPE:
</a:t>
            </a:r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 —</a:t>
            </a:r>
            <a:endParaRPr lang="en-US" sz="26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WE'RE NOT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34901" y="1799332"/>
            <a:ext cx="36223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1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2161282"/>
            <a:ext cx="507950" cy="25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4901" y="2180034"/>
            <a:ext cx="1039564" cy="412552"/>
          </a:xfrm>
          <a:prstGeom prst="roundRect">
            <a:avLst>
              <a:gd name="adj" fmla="val 6157"/>
            </a:avLst>
          </a:prstGeom>
          <a:solidFill>
            <a:srgbClr val="00BAFF">
              <a:alpha val="8000"/>
            </a:srgbClr>
          </a:solidFill>
          <a:ln w="9525">
            <a:solidFill>
              <a:srgbClr val="00B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5927" y="2329160"/>
            <a:ext cx="8338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auth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737866" y="2180034"/>
            <a:ext cx="1310729" cy="412552"/>
          </a:xfrm>
          <a:prstGeom prst="roundRect">
            <a:avLst>
              <a:gd name="adj" fmla="val 6157"/>
            </a:avLst>
          </a:prstGeom>
          <a:solidFill>
            <a:srgbClr val="00BAFF">
              <a:alpha val="8000"/>
            </a:srgbClr>
          </a:solidFill>
          <a:ln w="9525">
            <a:solidFill>
              <a:srgbClr val="00B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848892" y="2329160"/>
            <a:ext cx="11104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profile setup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34901" y="2655987"/>
            <a:ext cx="1598116" cy="412552"/>
          </a:xfrm>
          <a:prstGeom prst="roundRect">
            <a:avLst>
              <a:gd name="adj" fmla="val 6157"/>
            </a:avLst>
          </a:prstGeom>
          <a:solidFill>
            <a:srgbClr val="00BAFF">
              <a:alpha val="8000"/>
            </a:srgbClr>
          </a:solidFill>
          <a:ln w="9525">
            <a:solidFill>
              <a:srgbClr val="00B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45927" y="2805113"/>
            <a:ext cx="14035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 (3 types)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296418" y="2655987"/>
            <a:ext cx="1276499" cy="412552"/>
          </a:xfrm>
          <a:prstGeom prst="roundRect">
            <a:avLst>
              <a:gd name="adj" fmla="val 6157"/>
            </a:avLst>
          </a:prstGeom>
          <a:solidFill>
            <a:srgbClr val="00BAFF">
              <a:alpha val="8000"/>
            </a:srgbClr>
          </a:solidFill>
          <a:ln w="9525">
            <a:solidFill>
              <a:srgbClr val="00B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407444" y="2805113"/>
            <a:ext cx="1075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content editor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34901" y="3131939"/>
            <a:ext cx="1756023" cy="412552"/>
          </a:xfrm>
          <a:prstGeom prst="roundRect">
            <a:avLst>
              <a:gd name="adj" fmla="val 6157"/>
            </a:avLst>
          </a:prstGeom>
          <a:solidFill>
            <a:srgbClr val="00BAFF">
              <a:alpha val="8000"/>
            </a:srgbClr>
          </a:solidFill>
          <a:ln w="9525">
            <a:solidFill>
              <a:srgbClr val="00B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45927" y="3281065"/>
            <a:ext cx="15646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storage and dashboard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454325" y="3131939"/>
            <a:ext cx="1534567" cy="412552"/>
          </a:xfrm>
          <a:prstGeom prst="roundRect">
            <a:avLst>
              <a:gd name="adj" fmla="val 6157"/>
            </a:avLst>
          </a:prstGeom>
          <a:solidFill>
            <a:srgbClr val="00BAFF">
              <a:alpha val="8000"/>
            </a:srgbClr>
          </a:solidFill>
          <a:ln w="9525">
            <a:solidFill>
              <a:srgbClr val="00B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565350" y="3281065"/>
            <a:ext cx="13387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and keyword analysis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34901" y="3607891"/>
            <a:ext cx="1451521" cy="412552"/>
          </a:xfrm>
          <a:prstGeom prst="roundRect">
            <a:avLst>
              <a:gd name="adj" fmla="val 6157"/>
            </a:avLst>
          </a:prstGeom>
          <a:solidFill>
            <a:srgbClr val="00BAFF">
              <a:alpha val="8000"/>
            </a:srgbClr>
          </a:solidFill>
          <a:ln w="9525">
            <a:solidFill>
              <a:srgbClr val="00B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45927" y="3757017"/>
            <a:ext cx="12540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(SaaS)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149822" y="3607891"/>
            <a:ext cx="1451670" cy="412552"/>
          </a:xfrm>
          <a:prstGeom prst="roundRect">
            <a:avLst>
              <a:gd name="adj" fmla="val 6157"/>
            </a:avLst>
          </a:prstGeom>
          <a:solidFill>
            <a:srgbClr val="00BAFF">
              <a:alpha val="8000"/>
            </a:srgbClr>
          </a:solidFill>
          <a:ln w="9525">
            <a:solidFill>
              <a:srgbClr val="00B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260848" y="3757017"/>
            <a:ext cx="1254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evaluation engine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4572000" y="1799332"/>
            <a:ext cx="0" cy="2221111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57763" y="1799332"/>
            <a:ext cx="36223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100" dirty="0"/>
          </a:p>
        </p:txBody>
      </p:sp>
      <p:pic>
        <p:nvPicPr>
          <p:cNvPr id="26" name="Image 2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763" y="2161282"/>
            <a:ext cx="507950" cy="2530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957763" y="2180034"/>
            <a:ext cx="1215182" cy="412552"/>
          </a:xfrm>
          <a:prstGeom prst="roundRect">
            <a:avLst>
              <a:gd name="adj" fmla="val 6157"/>
            </a:avLst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068788" y="2329160"/>
            <a:ext cx="10129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automation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236345" y="2180034"/>
            <a:ext cx="955477" cy="412552"/>
          </a:xfrm>
          <a:prstGeom prst="roundRect">
            <a:avLst>
              <a:gd name="adj" fmla="val 6157"/>
            </a:avLst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347371" y="2329160"/>
            <a:ext cx="7480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integration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957763" y="2655987"/>
            <a:ext cx="1339304" cy="412552"/>
          </a:xfrm>
          <a:prstGeom prst="roundRect">
            <a:avLst>
              <a:gd name="adj" fmla="val 6157"/>
            </a:avLst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068788" y="2805113"/>
            <a:ext cx="11395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/ video generation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6360468" y="2655987"/>
            <a:ext cx="1096714" cy="412552"/>
          </a:xfrm>
          <a:prstGeom prst="roundRect">
            <a:avLst>
              <a:gd name="adj" fmla="val 6157"/>
            </a:avLst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6471493" y="2805113"/>
            <a:ext cx="8921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957763" y="3131939"/>
            <a:ext cx="1316534" cy="412552"/>
          </a:xfrm>
          <a:prstGeom prst="roundRect">
            <a:avLst>
              <a:gd name="adj" fmla="val 6157"/>
            </a:avLst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068788" y="3281065"/>
            <a:ext cx="1116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deployment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38" name="Text 33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7866" y="253901"/>
            <a:ext cx="1075134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865566" y="418951"/>
            <a:ext cx="734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SEMIR ABDU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330101"/>
            <a:ext cx="8031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4901" y="70470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must do</a:t>
            </a:r>
            <a:endParaRPr lang="en-US" sz="11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1104751"/>
            <a:ext cx="507950" cy="25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4901" y="1148953"/>
            <a:ext cx="2793802" cy="120357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34901" y="1168003"/>
            <a:ext cx="2793802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1851" y="1415504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61851" y="1631305"/>
            <a:ext cx="259069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 login with hashed storage (bcrypt). Session management via Supabase Auth.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530203" y="1148953"/>
            <a:ext cx="2793802" cy="120357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3530203" y="1168003"/>
            <a:ext cx="2793802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154" y="1415504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MANAGEMENT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657154" y="1631305"/>
            <a:ext cx="25906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profile: name, industry, target audience, brand tone. Validated inputs.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34901" y="2454027"/>
            <a:ext cx="2793802" cy="104358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634901" y="2473077"/>
            <a:ext cx="2793802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1851" y="2720578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61851" y="2936379"/>
            <a:ext cx="25906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selector (social, blog, email). AI generation with progress indicator.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530203" y="2454027"/>
            <a:ext cx="2793802" cy="104358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3530203" y="2473077"/>
            <a:ext cx="2793802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154" y="2720578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RATING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657154" y="2936379"/>
            <a:ext cx="25906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 star rating on every draft. Automated 5-metric quality scoring displayed.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4901" y="3599111"/>
            <a:ext cx="2793802" cy="104358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634901" y="3618161"/>
            <a:ext cx="2793802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1851" y="3865662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61851" y="4081463"/>
            <a:ext cx="25906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history with search, filter, delete. Usage metrics at a glance.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530203" y="3599111"/>
            <a:ext cx="2793802" cy="104358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5"/>
          <p:cNvSpPr/>
          <p:nvPr/>
        </p:nvSpPr>
        <p:spPr>
          <a:xfrm>
            <a:off x="3530203" y="3618161"/>
            <a:ext cx="2793802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57154" y="3865662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3657154" y="4081463"/>
            <a:ext cx="25906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to clipboard. Rich-text editor for review and editing before publishing.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7866" y="253901"/>
            <a:ext cx="1075134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865566" y="418951"/>
            <a:ext cx="734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SEMIR ABDU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330101"/>
            <a:ext cx="8031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4901" y="70470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security, and usability targets</a:t>
            </a:r>
            <a:endParaRPr lang="en-US" sz="11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1104751"/>
            <a:ext cx="507950" cy="25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4901" y="1148953"/>
            <a:ext cx="1873300" cy="1535609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34901" y="1168003"/>
            <a:ext cx="1873300" cy="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1851" y="1415504"/>
            <a:ext cx="1651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61851" y="1631305"/>
            <a:ext cx="1651787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2s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Short-form AI: </a:t>
            </a: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15s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Long-form AI: </a:t>
            </a: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45s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p95: </a:t>
            </a: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250ms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635151" y="1148953"/>
            <a:ext cx="1873448" cy="1535609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2635151" y="1168003"/>
            <a:ext cx="1873448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62101" y="1415504"/>
            <a:ext cx="1651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762101" y="1631305"/>
            <a:ext cx="1651939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 encryption</a:t>
            </a:r>
            <a:endParaRPr lang="en-US" sz="900" dirty="0"/>
          </a:p>
          <a:p>
            <a:pPr algn="l" indent="0" marL="0">
              <a:lnSpc>
                <a:spcPts val="144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/ Argon2id hashing</a:t>
            </a:r>
            <a:endParaRPr lang="en-US" sz="900" dirty="0"/>
          </a:p>
          <a:p>
            <a:pPr algn="l" indent="0" marL="0">
              <a:lnSpc>
                <a:spcPts val="144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in env vars only</a:t>
            </a:r>
            <a:endParaRPr lang="en-US" sz="900" dirty="0"/>
          </a:p>
          <a:p>
            <a:pPr algn="l" indent="0" marL="0">
              <a:lnSpc>
                <a:spcPts val="144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SQL queries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635550" y="1148953"/>
            <a:ext cx="1873300" cy="1535609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4635550" y="1168003"/>
            <a:ext cx="1873300" cy="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62500" y="1415504"/>
            <a:ext cx="1651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762500" y="1631305"/>
            <a:ext cx="1651787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concurrent users
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req/min with queueing
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uptime target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635800" y="1148953"/>
            <a:ext cx="1873300" cy="1535609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6635800" y="1168003"/>
            <a:ext cx="1873300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2750" y="1415504"/>
            <a:ext cx="1651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762750" y="1631305"/>
            <a:ext cx="1651787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task in 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clicks</a:t>
            </a:r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Level AA</a:t>
            </a: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Responsive: desktop + tablet</a:t>
            </a:r>
            <a:endParaRPr lang="en-US" sz="9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language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7866" y="253901"/>
            <a:ext cx="1075134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865566" y="418951"/>
            <a:ext cx="734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SEMIR ABDU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330101"/>
            <a:ext cx="8031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4901" y="70470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user interactions</a:t>
            </a:r>
            <a:endParaRPr lang="en-US" sz="11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1104751"/>
            <a:ext cx="507950" cy="25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4901" y="1174403"/>
            <a:ext cx="1873300" cy="1654522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53951" y="1174403"/>
            <a:ext cx="0" cy="1654522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9951" y="1415653"/>
            <a:ext cx="1612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99951" y="1663303"/>
            <a:ext cx="1612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and Create Profile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99951" y="2107704"/>
            <a:ext cx="161292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up, complete business profile with industry, tone, audience data.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635151" y="1174403"/>
            <a:ext cx="1873448" cy="1654522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2654201" y="1174403"/>
            <a:ext cx="0" cy="1654522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00201" y="1415653"/>
            <a:ext cx="16130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800201" y="1663303"/>
            <a:ext cx="16130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800201" y="1955304"/>
            <a:ext cx="161307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type, enter topic. System calls AI and evaluates quality.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635550" y="1174403"/>
            <a:ext cx="1873300" cy="1654522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4654600" y="1174403"/>
            <a:ext cx="0" cy="1654522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00600" y="1415653"/>
            <a:ext cx="1612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UC-03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800600" y="1663303"/>
            <a:ext cx="1612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Rate, Export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00600" y="1955304"/>
            <a:ext cx="161292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 editor, rate 1-5 stars, copy to clipboard for publishing.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635800" y="1174403"/>
            <a:ext cx="1873300" cy="1654522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6654850" y="1174403"/>
            <a:ext cx="0" cy="1654522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00850" y="1415653"/>
            <a:ext cx="1612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UC-04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800850" y="1663303"/>
            <a:ext cx="1612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Dashboard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800850" y="1955304"/>
            <a:ext cx="16129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history, filter by type, see quality scores, delete drafts.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7866" y="253901"/>
            <a:ext cx="1075134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865566" y="418951"/>
            <a:ext cx="734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SEMIR ABDU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7950" y="33010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7950" y="676126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Three-table relational schema</a:t>
            </a:r>
            <a:endParaRPr lang="en-US" sz="10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54001"/>
            <a:ext cx="507950" cy="25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950" y="1072753"/>
            <a:ext cx="2641699" cy="3370362"/>
          </a:xfrm>
          <a:prstGeom prst="roundRect">
            <a:avLst>
              <a:gd name="adj" fmla="val 962"/>
            </a:avLst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07950" y="1072753"/>
            <a:ext cx="2641699" cy="549176"/>
          </a:xfrm>
          <a:prstGeom prst="rect">
            <a:avLst/>
          </a:prstGeom>
          <a:solidFill>
            <a:srgbClr val="A100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09451" y="1275904"/>
            <a:ext cx="24874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7950" y="2020193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9451" y="1761530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07950" y="2423220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9451" y="2164556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07950" y="2826246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9451" y="2567583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password_hash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7950" y="3229273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9451" y="2970609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251150" y="1072753"/>
            <a:ext cx="2641699" cy="3370362"/>
          </a:xfrm>
          <a:prstGeom prst="roundRect">
            <a:avLst>
              <a:gd name="adj" fmla="val 962"/>
            </a:avLst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251150" y="1072753"/>
            <a:ext cx="2641699" cy="549176"/>
          </a:xfrm>
          <a:prstGeom prst="rect">
            <a:avLst/>
          </a:prstGeom>
          <a:solidFill>
            <a:srgbClr val="00BA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352651" y="1275904"/>
            <a:ext cx="24874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Business_Profile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251150" y="2020193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52651" y="1761530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251150" y="2423220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52651" y="2164556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251150" y="2826246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52651" y="2567583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business_name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251150" y="3229273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52651" y="2970609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251150" y="3632299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52651" y="3373636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target_audience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51150" y="4035326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52651" y="3776662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brand_tone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5994350" y="1072753"/>
            <a:ext cx="2641699" cy="3370362"/>
          </a:xfrm>
          <a:prstGeom prst="roundRect">
            <a:avLst>
              <a:gd name="adj" fmla="val 962"/>
            </a:avLst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994350" y="1072753"/>
            <a:ext cx="2641699" cy="549176"/>
          </a:xfrm>
          <a:prstGeom prst="rect">
            <a:avLst/>
          </a:prstGeom>
          <a:solidFill>
            <a:srgbClr val="A100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095851" y="1275904"/>
            <a:ext cx="24874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Generated_Content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994350" y="2020193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095851" y="1761530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5994350" y="2423220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095851" y="2164556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5994350" y="2826246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95851" y="2567583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content_type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5994350" y="3229273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095851" y="2970609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content_text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5994350" y="3632299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095851" y="3373636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5994350" y="4035326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095851" y="3776662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analysis_json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5994350" y="4438352"/>
            <a:ext cx="264169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095851" y="4179689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527000" y="4519315"/>
            <a:ext cx="0" cy="418802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73001" y="4671566"/>
            <a:ext cx="79928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enforce data isolation per user (multi-tenancy via row-level security)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2515" y="253901"/>
            <a:ext cx="1500485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440216" y="418951"/>
            <a:ext cx="11679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PALAZZOLO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457200"/>
            <a:ext cx="8031682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
</a:t>
            </a:r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FOUR-COMPONENT CLOUD DESIGN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34901" y="1412081"/>
            <a:ext cx="1357908" cy="948928"/>
          </a:xfrm>
          <a:prstGeom prst="roundRect">
            <a:avLst>
              <a:gd name="adj" fmla="val 5353"/>
            </a:avLst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34901" y="1431131"/>
            <a:ext cx="1357908" cy="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88046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4901" y="2356247"/>
            <a:ext cx="135790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9663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527" y="1716732"/>
            <a:ext cx="11066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0527" y="2008733"/>
            <a:ext cx="1106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069009" y="1767483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263973" y="1412081"/>
            <a:ext cx="1357908" cy="948928"/>
          </a:xfrm>
          <a:prstGeom prst="roundRect">
            <a:avLst>
              <a:gd name="adj" fmla="val 5353"/>
            </a:avLst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263973" y="1431131"/>
            <a:ext cx="1357908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17119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63973" y="2356247"/>
            <a:ext cx="135790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68736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89599" y="1716732"/>
            <a:ext cx="11066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389599" y="2008733"/>
            <a:ext cx="1106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698081" y="1767483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893046" y="1412081"/>
            <a:ext cx="1357908" cy="948928"/>
          </a:xfrm>
          <a:prstGeom prst="roundRect">
            <a:avLst>
              <a:gd name="adj" fmla="val 5353"/>
            </a:avLst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893046" y="1431131"/>
            <a:ext cx="1357908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46191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93046" y="2356247"/>
            <a:ext cx="135790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97809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18672" y="1716732"/>
            <a:ext cx="11066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018672" y="2008733"/>
            <a:ext cx="1106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Routes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27154" y="1767483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22119" y="1412081"/>
            <a:ext cx="1357908" cy="948928"/>
          </a:xfrm>
          <a:prstGeom prst="roundRect">
            <a:avLst>
              <a:gd name="adj" fmla="val 5353"/>
            </a:avLst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522119" y="1431131"/>
            <a:ext cx="1357908" cy="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75264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22119" y="2356247"/>
            <a:ext cx="135790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26881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47745" y="1716732"/>
            <a:ext cx="11066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647745" y="2008733"/>
            <a:ext cx="1106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956227" y="1767483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151191" y="1412081"/>
            <a:ext cx="1357908" cy="948928"/>
          </a:xfrm>
          <a:prstGeom prst="roundRect">
            <a:avLst>
              <a:gd name="adj" fmla="val 5353"/>
            </a:avLst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7151191" y="1431131"/>
            <a:ext cx="1357908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504337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51191" y="2356247"/>
            <a:ext cx="135790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55954" y="1412081"/>
            <a:ext cx="0" cy="94892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276817" y="1716732"/>
            <a:ext cx="11066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276817" y="2008733"/>
            <a:ext cx="1106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2127349" y="2589609"/>
            <a:ext cx="1365052" cy="507802"/>
          </a:xfrm>
          <a:prstGeom prst="roundRect">
            <a:avLst>
              <a:gd name="adj" fmla="val 7503"/>
            </a:avLst>
          </a:prstGeom>
          <a:solidFill>
            <a:srgbClr val="F8F8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2263825" y="2776835"/>
            <a:ext cx="11139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Flow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619351" y="2589609"/>
            <a:ext cx="1631900" cy="507802"/>
          </a:xfrm>
          <a:prstGeom prst="roundRect">
            <a:avLst>
              <a:gd name="adj" fmla="val 7503"/>
            </a:avLst>
          </a:prstGeom>
          <a:solidFill>
            <a:srgbClr val="F8F8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3755827" y="2776835"/>
            <a:ext cx="13861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 Flow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378202" y="2589609"/>
            <a:ext cx="1638449" cy="507802"/>
          </a:xfrm>
          <a:prstGeom prst="roundRect">
            <a:avLst>
              <a:gd name="adj" fmla="val 7503"/>
            </a:avLst>
          </a:prstGeom>
          <a:solidFill>
            <a:srgbClr val="F8F8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514677" y="2776835"/>
            <a:ext cx="13928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Publish Flow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2515" y="253901"/>
            <a:ext cx="1500485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440216" y="418951"/>
            <a:ext cx="11679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PALAZZOLO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330101"/>
            <a:ext cx="8031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4901" y="70470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repo. One language. Zero servers.</a:t>
            </a:r>
            <a:endParaRPr lang="en-US" sz="11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1104751"/>
            <a:ext cx="507950" cy="25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4901" y="1148953"/>
            <a:ext cx="1873300" cy="1458367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34901" y="1168003"/>
            <a:ext cx="1873300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1851" y="1402854"/>
            <a:ext cx="16517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BACKEND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61851" y="1586954"/>
            <a:ext cx="1651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61851" y="1952030"/>
            <a:ext cx="1651787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and serverless API routes in a single project. SSR for performance.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635151" y="1148953"/>
            <a:ext cx="1873448" cy="1458367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2635151" y="1168003"/>
            <a:ext cx="1873448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62101" y="1402854"/>
            <a:ext cx="16519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+ AUTH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762101" y="1586954"/>
            <a:ext cx="1651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62101" y="1952030"/>
            <a:ext cx="1651939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PostgreSQL with built-in auth and row-level security for multi-tenancy.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635550" y="1148953"/>
            <a:ext cx="1873300" cy="1458367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4635550" y="1168003"/>
            <a:ext cx="1873300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62500" y="1402854"/>
            <a:ext cx="16517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4762500" y="1586954"/>
            <a:ext cx="1651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762500" y="1952030"/>
            <a:ext cx="1651787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primary, GPT-3.5 fallback. Pay-per-use. Well-documented SDK.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635800" y="1148953"/>
            <a:ext cx="1873300" cy="1458367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6635800" y="1168003"/>
            <a:ext cx="1873300" cy="0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2750" y="1402854"/>
            <a:ext cx="16517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762750" y="1586954"/>
            <a:ext cx="1651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762750" y="1952030"/>
            <a:ext cx="165178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Serverless, git-push CI/CD. Auto-scaling, zero infrastructure.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53951" y="2734270"/>
            <a:ext cx="0" cy="51435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99951" y="2924770"/>
            <a:ext cx="77338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everywhere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single language across frontend, API routes, and database queries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purple-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2515" y="253901"/>
            <a:ext cx="1500485" cy="463451"/>
          </a:xfrm>
          <a:prstGeom prst="rect">
            <a:avLst/>
          </a:prstGeom>
          <a:solidFill>
            <a:srgbClr val="00B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440216" y="418951"/>
            <a:ext cx="11679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PALAZZOLO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7950" y="330101"/>
            <a:ext cx="8290661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ALGORITHM: </a:t>
            </a:r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7-PHASE CONTENT</a:t>
            </a:r>
            <a:endParaRPr lang="en-US" sz="20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PIPELINE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7950" y="965150"/>
            <a:ext cx="829066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pass-through to ChatGPT — a structured engineering pipeline with fault tolerance and quality gates.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7950" y="1240631"/>
            <a:ext cx="1085552" cy="660202"/>
          </a:xfrm>
          <a:prstGeom prst="roundRect">
            <a:avLst>
              <a:gd name="adj" fmla="val 57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0341" y="1415207"/>
            <a:ext cx="880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10341" y="1599307"/>
            <a:ext cx="8807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Rate Limit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31603" y="1485007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58702" y="1240631"/>
            <a:ext cx="1085552" cy="660202"/>
          </a:xfrm>
          <a:prstGeom prst="roundRect">
            <a:avLst>
              <a:gd name="adj" fmla="val 57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861093" y="1415207"/>
            <a:ext cx="880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861093" y="1599307"/>
            <a:ext cx="8807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Retrieval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882354" y="1485007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09454" y="1240631"/>
            <a:ext cx="1085552" cy="660202"/>
          </a:xfrm>
          <a:prstGeom prst="roundRect">
            <a:avLst>
              <a:gd name="adj" fmla="val 57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111844" y="1415207"/>
            <a:ext cx="880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111844" y="1599307"/>
            <a:ext cx="8807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Assembly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133106" y="1485007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60205" y="1240631"/>
            <a:ext cx="1085552" cy="660202"/>
          </a:xfrm>
          <a:prstGeom prst="roundRect">
            <a:avLst>
              <a:gd name="adj" fmla="val 57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362596" y="1415207"/>
            <a:ext cx="880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362596" y="1599307"/>
            <a:ext cx="8807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 + Retry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83857" y="1485007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10957" y="1240631"/>
            <a:ext cx="1085552" cy="660202"/>
          </a:xfrm>
          <a:prstGeom prst="roundRect">
            <a:avLst>
              <a:gd name="adj" fmla="val 57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613347" y="1415207"/>
            <a:ext cx="880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613347" y="1599307"/>
            <a:ext cx="8807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Eval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634609" y="1485007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61708" y="1240631"/>
            <a:ext cx="1085552" cy="660202"/>
          </a:xfrm>
          <a:prstGeom prst="roundRect">
            <a:avLst>
              <a:gd name="adj" fmla="val 57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864099" y="1415207"/>
            <a:ext cx="880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864099" y="1599307"/>
            <a:ext cx="8807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Auto-Regen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885361" y="1485007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12460" y="1240631"/>
            <a:ext cx="1085552" cy="660202"/>
          </a:xfrm>
          <a:prstGeom prst="roundRect">
            <a:avLst>
              <a:gd name="adj" fmla="val 57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8114851" y="1415207"/>
            <a:ext cx="880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114851" y="1599307"/>
            <a:ext cx="8807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Return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07950" y="2027783"/>
            <a:ext cx="2641699" cy="106769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507950" y="2037308"/>
            <a:ext cx="2641699" cy="0"/>
          </a:xfrm>
          <a:prstGeom prst="line">
            <a:avLst/>
          </a:prstGeom>
          <a:noFill/>
          <a:ln w="19050">
            <a:solidFill>
              <a:srgbClr val="00BA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9451" y="2249835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09451" y="2465636"/>
            <a:ext cx="2487472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instruction sets role, tone, audience. User prompt combines topic, keywords, and content-type constraints.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251150" y="2027783"/>
            <a:ext cx="2641699" cy="106769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3251150" y="2037308"/>
            <a:ext cx="2641699" cy="0"/>
          </a:xfrm>
          <a:prstGeom prst="line">
            <a:avLst/>
          </a:prstGeom>
          <a:noFill/>
          <a:ln w="19050">
            <a:solidFill>
              <a:srgbClr val="00BA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52651" y="2249835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TOLERANCE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352651" y="2465636"/>
            <a:ext cx="248747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retries on GPT-4 timeout, then automatic fallback to GPT-3.5 Turbo. User input preserved on failure.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994350" y="2027783"/>
            <a:ext cx="2641699" cy="106769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5994350" y="2037308"/>
            <a:ext cx="2641699" cy="0"/>
          </a:xfrm>
          <a:prstGeom prst="line">
            <a:avLst/>
          </a:prstGeom>
          <a:noFill/>
          <a:ln w="19050">
            <a:solidFill>
              <a:srgbClr val="00BA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095851" y="2249835"/>
            <a:ext cx="2487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095851" y="2465636"/>
            <a:ext cx="248747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quality score &lt; 0.6, system auto-regenerates with adjusted prompt citing specific deficiencies.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8670727" y="4832449"/>
            <a:ext cx="941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2515" y="253901"/>
            <a:ext cx="1500485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440216" y="418951"/>
            <a:ext cx="11679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PALAZZOLO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381000"/>
            <a:ext cx="362706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EVALUATION ENGINE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34901" y="1022300"/>
            <a:ext cx="3627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weighted metrics</a:t>
            </a:r>
            <a:endParaRPr lang="en-US" sz="10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1400175"/>
            <a:ext cx="507950" cy="25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4901" y="1418927"/>
            <a:ext cx="36270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draft is scored before the user sees it. The heaviest weight goes to historical user ratings.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34901" y="1916609"/>
            <a:ext cx="3555950" cy="144110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53951" y="1916609"/>
            <a:ext cx="0" cy="1441103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5401" y="2170509"/>
            <a:ext cx="32773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THRESHOLD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25401" y="2386310"/>
            <a:ext cx="327731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25401" y="2989511"/>
            <a:ext cx="32773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this triggers auto-regeneration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444752" y="690414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943154" y="655439"/>
            <a:ext cx="1777901" cy="203150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943154" y="655439"/>
            <a:ext cx="1777901" cy="203150"/>
          </a:xfrm>
          <a:prstGeom prst="roundRect">
            <a:avLst>
              <a:gd name="adj" fmla="val 12503"/>
            </a:avLst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814935" y="685651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444752" y="1214140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Alignment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943154" y="1179165"/>
            <a:ext cx="1777901" cy="203150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943154" y="1179165"/>
            <a:ext cx="1013371" cy="203150"/>
          </a:xfrm>
          <a:prstGeom prst="roundRect">
            <a:avLst>
              <a:gd name="adj" fmla="val 12503"/>
            </a:avLst>
          </a:prstGeom>
          <a:solidFill>
            <a:srgbClr val="00B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814935" y="1209377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444752" y="1737866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Integration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943154" y="1702891"/>
            <a:ext cx="1777901" cy="203150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943154" y="1702891"/>
            <a:ext cx="1013371" cy="203150"/>
          </a:xfrm>
          <a:prstGeom prst="roundRect">
            <a:avLst>
              <a:gd name="adj" fmla="val 12503"/>
            </a:avLst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814935" y="1733104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444752" y="2261592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Compliance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943154" y="2226618"/>
            <a:ext cx="1777901" cy="203150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943154" y="2226618"/>
            <a:ext cx="764381" cy="203150"/>
          </a:xfrm>
          <a:prstGeom prst="roundRect">
            <a:avLst>
              <a:gd name="adj" fmla="val 12503"/>
            </a:avLst>
          </a:prstGeom>
          <a:solidFill>
            <a:srgbClr val="00B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814935" y="2256830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444752" y="2785318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943154" y="2750344"/>
            <a:ext cx="1777901" cy="203150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943154" y="2750344"/>
            <a:ext cx="515541" cy="203150"/>
          </a:xfrm>
          <a:prstGeom prst="roundRect">
            <a:avLst>
              <a:gd name="adj" fmla="val 12503"/>
            </a:avLst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814935" y="2780556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463802" y="3202781"/>
            <a:ext cx="0" cy="690563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609802" y="3405783"/>
            <a:ext cx="384733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ratings stored in analysis_json shape future quality scoring — system learns from user judgement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6083" y="253901"/>
            <a:ext cx="1286917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53784" y="418951"/>
            <a:ext cx="950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JAMAL HUSSEIN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7950" y="33010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 DESIGN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7950" y="676126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non-technical business owners</a:t>
            </a:r>
            <a:endParaRPr lang="en-US" sz="10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54001"/>
            <a:ext cx="507950" cy="25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950" y="1174254"/>
            <a:ext cx="46634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 VIEW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7950" y="1339304"/>
            <a:ext cx="4572000" cy="2486620"/>
          </a:xfrm>
          <a:prstGeom prst="roundRect">
            <a:avLst>
              <a:gd name="adj" fmla="val 2043"/>
            </a:avLst>
          </a:prstGeom>
          <a:solidFill>
            <a:srgbClr val="F8F8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44426" y="1577280"/>
            <a:ext cx="438503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  |  Two-Column Layout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44426" y="1841302"/>
            <a:ext cx="438503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LEFT: [ Type v ] [ Topic ] [ Keywords ]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44426" y="2105323"/>
            <a:ext cx="438503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&gt; Generate Content ]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44426" y="2369344"/>
            <a:ext cx="438503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RIGHT: | AI-generated content   |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4426" y="2633365"/>
            <a:ext cx="438503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in rich-text editor    |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4426" y="2897386"/>
            <a:ext cx="438503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Quality: ######### 0.78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44426" y="3161407"/>
            <a:ext cx="438503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Rating:  *****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44426" y="3425428"/>
            <a:ext cx="438503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Copy ]   [ Discard ]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206901" y="1072753"/>
            <a:ext cx="3301901" cy="139407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5225951" y="1072753"/>
            <a:ext cx="0" cy="1394073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1951" y="1301204"/>
            <a:ext cx="30700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371951" y="1517005"/>
            <a:ext cx="3070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5-click rule</a:t>
            </a:r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core task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371951" y="1791295"/>
            <a:ext cx="3070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AA</a:t>
            </a:r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accessible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371951" y="2065586"/>
            <a:ext cx="3070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desktop + tablet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206901" y="2568327"/>
            <a:ext cx="3301901" cy="1005483"/>
          </a:xfrm>
          <a:prstGeom prst="rect">
            <a:avLst/>
          </a:prstGeom>
          <a:solidFill>
            <a:srgbClr val="F8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5225951" y="2568327"/>
            <a:ext cx="0" cy="1005483"/>
          </a:xfrm>
          <a:prstGeom prst="line">
            <a:avLst/>
          </a:prstGeom>
          <a:noFill/>
          <a:ln w="38100">
            <a:solidFill>
              <a:srgbClr val="A100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371951" y="2796778"/>
            <a:ext cx="30700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371951" y="3012579"/>
            <a:ext cx="30700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cards: drafts, generation count, avg quality. History table with type filter and delete.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6083" y="253901"/>
            <a:ext cx="1286917" cy="463451"/>
          </a:xfrm>
          <a:prstGeom prst="rect">
            <a:avLst/>
          </a:prstGeom>
          <a:solidFill>
            <a:srgbClr val="A10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53784" y="418951"/>
            <a:ext cx="950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JAMAL HUSSEIN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7950" y="330101"/>
            <a:ext cx="44043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50" y="647551"/>
            <a:ext cx="4404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mitigations</a:t>
            </a:r>
            <a:endParaRPr lang="en-US" sz="1000" dirty="0"/>
          </a:p>
        </p:txBody>
      </p:sp>
      <p:pic>
        <p:nvPicPr>
          <p:cNvPr id="7" name="Image 1" descr="/home/m0xu/1-projects/capstone/pptx-workspace/slides/underline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025426"/>
            <a:ext cx="507950" cy="2530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7950" y="1504504"/>
            <a:ext cx="4317950" cy="0"/>
          </a:xfrm>
          <a:prstGeom prst="line">
            <a:avLst/>
          </a:prstGeom>
          <a:noFill/>
          <a:ln w="19050">
            <a:solidFill>
              <a:srgbClr val="A100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7950" y="1234678"/>
            <a:ext cx="14248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904851" y="1234678"/>
            <a:ext cx="569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2463552" y="1234678"/>
            <a:ext cx="22020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7950" y="1994743"/>
            <a:ext cx="431795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7950" y="1694855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service downtime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904851" y="1590229"/>
            <a:ext cx="558701" cy="323552"/>
          </a:xfrm>
          <a:prstGeom prst="roundRect">
            <a:avLst>
              <a:gd name="adj" fmla="val 7850"/>
            </a:avLst>
          </a:prstGeom>
          <a:solidFill>
            <a:srgbClr val="A100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981051" y="1704380"/>
            <a:ext cx="4144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463552" y="1694855"/>
            <a:ext cx="22020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logic + GPT-3.5 fallback + graceful errors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7950" y="2480221"/>
            <a:ext cx="431795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950" y="2180332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904851" y="2075706"/>
            <a:ext cx="558701" cy="323552"/>
          </a:xfrm>
          <a:prstGeom prst="roundRect">
            <a:avLst>
              <a:gd name="adj" fmla="val 7850"/>
            </a:avLst>
          </a:prstGeom>
          <a:solidFill>
            <a:srgbClr val="A100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981051" y="2189857"/>
            <a:ext cx="4144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2463552" y="2180332"/>
            <a:ext cx="22020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in/out scope boundary documented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07950" y="3073747"/>
            <a:ext cx="431795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7950" y="2719834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breach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904851" y="2615208"/>
            <a:ext cx="558701" cy="323552"/>
          </a:xfrm>
          <a:prstGeom prst="roundRect">
            <a:avLst>
              <a:gd name="adj" fmla="val 7850"/>
            </a:avLst>
          </a:prstGeom>
          <a:solidFill>
            <a:srgbClr val="A100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1981051" y="2729359"/>
            <a:ext cx="4144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2463552" y="2662684"/>
            <a:ext cx="2202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1.3, RLS, hashed passwords, env-var secrets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07950" y="3559225"/>
            <a:ext cx="431795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950" y="3259336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LLM output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904851" y="3154710"/>
            <a:ext cx="558701" cy="323552"/>
          </a:xfrm>
          <a:prstGeom prst="roundRect">
            <a:avLst>
              <a:gd name="adj" fmla="val 7850"/>
            </a:avLst>
          </a:prstGeom>
          <a:solidFill>
            <a:srgbClr val="00BA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1981051" y="3268861"/>
            <a:ext cx="4144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2463552" y="3259336"/>
            <a:ext cx="22020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5-metric evaluation + auto-regeneration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079802" y="330101"/>
            <a:ext cx="36270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5079802" y="647551"/>
            <a:ext cx="36270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delivery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079802" y="977652"/>
            <a:ext cx="888950" cy="0"/>
          </a:xfrm>
          <a:prstGeom prst="line">
            <a:avLst/>
          </a:prstGeom>
          <a:noFill/>
          <a:ln w="19050">
            <a:solidFill>
              <a:srgbClr val="00BA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70912" y="1317278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070912" y="1587103"/>
            <a:ext cx="9067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and Design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070912" y="1917204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5968752" y="977652"/>
            <a:ext cx="889099" cy="0"/>
          </a:xfrm>
          <a:prstGeom prst="line">
            <a:avLst/>
          </a:prstGeom>
          <a:noFill/>
          <a:ln w="19050">
            <a:solidFill>
              <a:srgbClr val="A100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59861" y="1317278"/>
            <a:ext cx="906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959861" y="1587103"/>
            <a:ext cx="9068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Frontend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959861" y="1917204"/>
            <a:ext cx="906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API, UI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6857851" y="977652"/>
            <a:ext cx="888950" cy="0"/>
          </a:xfrm>
          <a:prstGeom prst="line">
            <a:avLst/>
          </a:prstGeom>
          <a:noFill/>
          <a:ln w="19050">
            <a:solidFill>
              <a:srgbClr val="A100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848962" y="1317278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6848962" y="1587103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848962" y="1802904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Engine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7746802" y="977652"/>
            <a:ext cx="888950" cy="0"/>
          </a:xfrm>
          <a:prstGeom prst="line">
            <a:avLst/>
          </a:prstGeom>
          <a:noFill/>
          <a:ln w="19050">
            <a:solidFill>
              <a:srgbClr val="A100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737912" y="1317278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7737912" y="1587103"/>
            <a:ext cx="9067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Delivery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7737912" y="1917204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TARGET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5098852" y="2285405"/>
            <a:ext cx="0" cy="514350"/>
          </a:xfrm>
          <a:prstGeom prst="line">
            <a:avLst/>
          </a:prstGeom>
          <a:noFill/>
          <a:ln w="38100">
            <a:solidFill>
              <a:srgbClr val="00BAFF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244852" y="2475905"/>
            <a:ext cx="3329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implementation complete before NIT3004 delivery.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0xu/1-projects/capstone/pptx-workspace/slides/bg-purple-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6083" y="253901"/>
            <a:ext cx="1286917" cy="463451"/>
          </a:xfrm>
          <a:prstGeom prst="rect">
            <a:avLst/>
          </a:prstGeom>
          <a:solidFill>
            <a:srgbClr val="00B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53784" y="418951"/>
            <a:ext cx="950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JAMAL HUSSEIN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4901" y="507950"/>
            <a:ext cx="8031682" cy="817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</a:t>
            </a:r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CHATGPT</a:t>
            </a:r>
            <a:endParaRPr lang="en-US" sz="2800" dirty="0"/>
          </a:p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</a:t>
            </a:r>
            <a:endParaRPr lang="en-US" sz="2800" dirty="0"/>
          </a:p>
        </p:txBody>
      </p:sp>
      <p:pic>
        <p:nvPicPr>
          <p:cNvPr id="6" name="Image 1" descr="/home/m0xu/1-projects/capstone/pptx-workspace/slide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1573262"/>
            <a:ext cx="762000" cy="3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4901" y="1668512"/>
            <a:ext cx="80316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BA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prompt engineering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business context, type rules, and brand voice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34901" y="1973163"/>
            <a:ext cx="80316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BA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5-metric quality evaluation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scores content before the user sees it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34901" y="2277814"/>
            <a:ext cx="80316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BA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loop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star ratings actively shape future quality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34901" y="2582466"/>
            <a:ext cx="80316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BA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Fault-tolerant architecture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retry logic, model fallback, graceful degradation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34901" y="3039517"/>
            <a:ext cx="8031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34901" y="3642717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Hailu  |  Daniel  |  Semir  |  Jamal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NIT3003 | Victoria University | 2026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Content Generation Engine for Small Businesses</dc:title>
  <dc:subject>NIT3003 Capstone Project - Victoria University</dc:subject>
  <dc:creator>Daniel Palazzolo</dc:creator>
  <cp:lastModifiedBy>Daniel Palazzolo</cp:lastModifiedBy>
  <cp:revision>1</cp:revision>
  <dcterms:created xsi:type="dcterms:W3CDTF">2026-03-08T02:45:06Z</dcterms:created>
  <dcterms:modified xsi:type="dcterms:W3CDTF">2026-03-08T02:45:06Z</dcterms:modified>
</cp:coreProperties>
</file>