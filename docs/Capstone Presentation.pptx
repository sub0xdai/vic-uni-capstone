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cddf4570e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cddf4570e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cddf4570ef_2_1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g3cddf4570ef_2_1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g3cddf4570ef_2_1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ddf4570ef_2_3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g3cddf4570ef_2_3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cddf4570ef_2_3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ddf4570ef_2_5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3cddf4570ef_2_5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cddf4570ef_2_5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ddf4570ef_2_9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3cddf4570ef_2_9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cddf4570ef_2_9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cddf4570ef_2_19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3cddf4570ef_2_19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cddf4570ef_2_19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cddf4570ef_2_16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g3cddf4570ef_2_16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cddf4570ef_2_16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c564e65305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c564e65305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cddf4570ef_2_25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g3cddf4570ef_2_25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cddf4570ef_2_25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cddf4570ef_2_30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g3cddf4570ef_2_30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g3cddf4570ef_2_30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cddf4570ef_2_33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g3cddf4570ef_2_33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g3cddf4570ef_2_33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cddf4570ef_2_38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g3cddf4570ef_2_38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g3cddf4570ef_2_38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cddf4570ef_2_13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" name="Google Shape;502;g3cddf4570ef_2_13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g3cddf4570ef_2_13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cddf4570ef_2_42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1" name="Google Shape;531;g3cddf4570ef_2_42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g3cddf4570ef_2_42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cddf4570ef_2_46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5" name="Google Shape;565;g3cddf4570ef_2_46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g3cddf4570ef_2_46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cddf4570ef_2_51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3" name="Google Shape;603;g3cddf4570ef_2_51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g3cddf4570ef_2_51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18.png"/><Relationship Id="rId8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57" name="Google Shape;5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m0xu/1-projects/capstone/pptx-workspace/slides/bg-band.png" id="63" name="Google Shape;6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7"/>
          <p:cNvSpPr/>
          <p:nvPr/>
        </p:nvSpPr>
        <p:spPr>
          <a:xfrm>
            <a:off x="7516267" y="253901"/>
            <a:ext cx="1246733" cy="463451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7"/>
          <p:cNvSpPr/>
          <p:nvPr/>
        </p:nvSpPr>
        <p:spPr>
          <a:xfrm>
            <a:off x="7693968" y="418951"/>
            <a:ext cx="90915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HAILU TESFAYE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7"/>
          <p:cNvSpPr/>
          <p:nvPr/>
        </p:nvSpPr>
        <p:spPr>
          <a:xfrm>
            <a:off x="634901" y="381000"/>
            <a:ext cx="80316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0" i="0" lang="en-GB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PROBLEM:</a:t>
            </a:r>
            <a:br>
              <a:rPr b="0" i="0" lang="en-GB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GB" sz="2600" u="none" cap="none" strike="noStrike">
                <a:solidFill>
                  <a:srgbClr val="00BAFF"/>
                </a:solidFill>
                <a:latin typeface="Arial"/>
                <a:ea typeface="Arial"/>
                <a:cs typeface="Arial"/>
                <a:sym typeface="Arial"/>
              </a:rPr>
              <a:t>SMALL BUSINESSES ARE LOSING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BAFF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rgbClr val="00BAFF"/>
                </a:solidFill>
                <a:latin typeface="Arial"/>
                <a:ea typeface="Arial"/>
                <a:cs typeface="Arial"/>
                <a:sym typeface="Arial"/>
              </a:rPr>
              <a:t>THE CONTENT GAME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7"/>
          <p:cNvSpPr/>
          <p:nvPr/>
        </p:nvSpPr>
        <p:spPr>
          <a:xfrm>
            <a:off x="132901" y="1980582"/>
            <a:ext cx="8031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CONTENT CREATION IS BROKEN FOR SMEs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7"/>
          <p:cNvSpPr/>
          <p:nvPr/>
        </p:nvSpPr>
        <p:spPr>
          <a:xfrm>
            <a:off x="300189" y="2745483"/>
            <a:ext cx="38214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A100FF"/>
                </a:solidFill>
                <a:latin typeface="Arial"/>
                <a:ea typeface="Arial"/>
                <a:cs typeface="Arial"/>
                <a:sym typeface="Arial"/>
              </a:rPr>
              <a:t>60%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7"/>
          <p:cNvSpPr/>
          <p:nvPr/>
        </p:nvSpPr>
        <p:spPr>
          <a:xfrm>
            <a:off x="300251" y="3347921"/>
            <a:ext cx="38214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of small business owners identify content creation as their top marketing challenge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" name="Google Shape;70;p17"/>
          <p:cNvCxnSpPr/>
          <p:nvPr/>
        </p:nvCxnSpPr>
        <p:spPr>
          <a:xfrm>
            <a:off x="4707588" y="2907209"/>
            <a:ext cx="0" cy="1068900"/>
          </a:xfrm>
          <a:prstGeom prst="straightConnector1">
            <a:avLst/>
          </a:prstGeom>
          <a:noFill/>
          <a:ln cap="flat" cmpd="sng" w="47625">
            <a:solidFill>
              <a:srgbClr val="A1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17"/>
          <p:cNvSpPr/>
          <p:nvPr/>
        </p:nvSpPr>
        <p:spPr>
          <a:xfrm>
            <a:off x="5251400" y="3315660"/>
            <a:ext cx="3462000" cy="5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A100FF"/>
                </a:solidFill>
                <a:latin typeface="Arial"/>
                <a:ea typeface="Arial"/>
                <a:cs typeface="Arial"/>
                <a:sym typeface="Arial"/>
              </a:rPr>
              <a:t>No time, no expertise, wrong tools. Generic AI requires prompt engineering skills most owners don't have.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7"/>
          <p:cNvSpPr/>
          <p:nvPr/>
        </p:nvSpPr>
        <p:spPr>
          <a:xfrm>
            <a:off x="634901" y="4832449"/>
            <a:ext cx="1420588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NIT3003 | Victoria University | 2026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7"/>
          <p:cNvSpPr/>
          <p:nvPr/>
        </p:nvSpPr>
        <p:spPr>
          <a:xfrm>
            <a:off x="8713440" y="4832449"/>
            <a:ext cx="50551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m0xu/1-projects/capstone/pptx-workspace/slides/bg-purple-texture.png" id="79" name="Google Shape;7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8"/>
          <p:cNvSpPr/>
          <p:nvPr/>
        </p:nvSpPr>
        <p:spPr>
          <a:xfrm>
            <a:off x="7516267" y="253901"/>
            <a:ext cx="1246733" cy="463451"/>
          </a:xfrm>
          <a:prstGeom prst="rect">
            <a:avLst/>
          </a:prstGeom>
          <a:solidFill>
            <a:srgbClr val="00BA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8"/>
          <p:cNvSpPr/>
          <p:nvPr/>
        </p:nvSpPr>
        <p:spPr>
          <a:xfrm>
            <a:off x="7693968" y="418951"/>
            <a:ext cx="90915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HAILU TESFAYE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8"/>
          <p:cNvSpPr/>
          <p:nvPr/>
        </p:nvSpPr>
        <p:spPr>
          <a:xfrm>
            <a:off x="634901" y="507950"/>
            <a:ext cx="8031682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OUR SOLUTION:</a:t>
            </a:r>
            <a:br>
              <a:rPr b="0" i="0" lang="en-GB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GB" sz="2400" u="none" cap="none" strike="noStrike">
                <a:solidFill>
                  <a:srgbClr val="00BAFF"/>
                </a:solidFill>
                <a:latin typeface="Arial"/>
                <a:ea typeface="Arial"/>
                <a:cs typeface="Arial"/>
                <a:sym typeface="Arial"/>
              </a:rPr>
              <a:t>AI-POWERED CONTENT FOR EVERY BUSINESS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8"/>
          <p:cNvSpPr/>
          <p:nvPr/>
        </p:nvSpPr>
        <p:spPr>
          <a:xfrm>
            <a:off x="634901" y="1310432"/>
            <a:ext cx="8031682" cy="391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cloud-based SaaS platform that generates professional marketing content using generative AI — no technical expertise required.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8"/>
          <p:cNvSpPr/>
          <p:nvPr/>
        </p:nvSpPr>
        <p:spPr>
          <a:xfrm>
            <a:off x="634901" y="1955453"/>
            <a:ext cx="2523083" cy="130403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" name="Google Shape;85;p18"/>
          <p:cNvCxnSpPr/>
          <p:nvPr/>
        </p:nvCxnSpPr>
        <p:spPr>
          <a:xfrm>
            <a:off x="634901" y="1974503"/>
            <a:ext cx="2523083" cy="0"/>
          </a:xfrm>
          <a:prstGeom prst="straightConnector1">
            <a:avLst/>
          </a:prstGeom>
          <a:noFill/>
          <a:ln cap="flat" cmpd="sng" w="38100">
            <a:solidFill>
              <a:srgbClr val="00BA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18"/>
          <p:cNvSpPr/>
          <p:nvPr/>
        </p:nvSpPr>
        <p:spPr>
          <a:xfrm>
            <a:off x="812602" y="2323654"/>
            <a:ext cx="221103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Social Media Captions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8"/>
          <p:cNvSpPr/>
          <p:nvPr/>
        </p:nvSpPr>
        <p:spPr>
          <a:xfrm>
            <a:off x="812602" y="2647504"/>
            <a:ext cx="221103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On-brand, on-length, platform-specific with calls to action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8"/>
          <p:cNvSpPr/>
          <p:nvPr/>
        </p:nvSpPr>
        <p:spPr>
          <a:xfrm>
            <a:off x="3310384" y="1955453"/>
            <a:ext cx="2523232" cy="130403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" name="Google Shape;89;p18"/>
          <p:cNvCxnSpPr/>
          <p:nvPr/>
        </p:nvCxnSpPr>
        <p:spPr>
          <a:xfrm>
            <a:off x="3310384" y="1974503"/>
            <a:ext cx="2523232" cy="0"/>
          </a:xfrm>
          <a:prstGeom prst="straightConnector1">
            <a:avLst/>
          </a:prstGeom>
          <a:noFill/>
          <a:ln cap="flat" cmpd="sng" w="38100">
            <a:solidFill>
              <a:srgbClr val="00BA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18"/>
          <p:cNvSpPr/>
          <p:nvPr/>
        </p:nvSpPr>
        <p:spPr>
          <a:xfrm>
            <a:off x="3488085" y="2323654"/>
            <a:ext cx="221118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Blog Outlines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8"/>
          <p:cNvSpPr/>
          <p:nvPr/>
        </p:nvSpPr>
        <p:spPr>
          <a:xfrm>
            <a:off x="3488085" y="2647504"/>
            <a:ext cx="2211187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Structured sections with intros, conclusions, and SEO focus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8"/>
          <p:cNvSpPr/>
          <p:nvPr/>
        </p:nvSpPr>
        <p:spPr>
          <a:xfrm>
            <a:off x="5986016" y="1955453"/>
            <a:ext cx="2523083" cy="130403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18"/>
          <p:cNvCxnSpPr/>
          <p:nvPr/>
        </p:nvCxnSpPr>
        <p:spPr>
          <a:xfrm>
            <a:off x="5986016" y="1974503"/>
            <a:ext cx="2523083" cy="0"/>
          </a:xfrm>
          <a:prstGeom prst="straightConnector1">
            <a:avLst/>
          </a:prstGeom>
          <a:noFill/>
          <a:ln cap="flat" cmpd="sng" w="38100">
            <a:solidFill>
              <a:srgbClr val="00BA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18"/>
          <p:cNvSpPr/>
          <p:nvPr/>
        </p:nvSpPr>
        <p:spPr>
          <a:xfrm>
            <a:off x="6163717" y="2323654"/>
            <a:ext cx="221103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Email Newsletters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8"/>
          <p:cNvSpPr/>
          <p:nvPr/>
        </p:nvSpPr>
        <p:spPr>
          <a:xfrm>
            <a:off x="6163717" y="2647504"/>
            <a:ext cx="221103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Subject lines, body copy, and CTA buttons ready to send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" name="Google Shape;96;p18"/>
          <p:cNvCxnSpPr/>
          <p:nvPr/>
        </p:nvCxnSpPr>
        <p:spPr>
          <a:xfrm>
            <a:off x="653951" y="3462635"/>
            <a:ext cx="0" cy="549176"/>
          </a:xfrm>
          <a:prstGeom prst="straightConnector1">
            <a:avLst/>
          </a:prstGeom>
          <a:noFill/>
          <a:ln cap="flat" cmpd="sng" w="38100">
            <a:solidFill>
              <a:srgbClr val="00BA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18"/>
          <p:cNvSpPr/>
          <p:nvPr/>
        </p:nvSpPr>
        <p:spPr>
          <a:xfrm>
            <a:off x="825401" y="3665786"/>
            <a:ext cx="7681924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Multi-tenant SaaS</a:t>
            </a:r>
            <a:r>
              <a:rPr b="0" i="0" lang="en-GB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— secure isolation per business, cloud-deployed on Vercel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8"/>
          <p:cNvSpPr/>
          <p:nvPr/>
        </p:nvSpPr>
        <p:spPr>
          <a:xfrm>
            <a:off x="634901" y="4832449"/>
            <a:ext cx="1420588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NIT3003 | Victoria University | 2026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8"/>
          <p:cNvSpPr/>
          <p:nvPr/>
        </p:nvSpPr>
        <p:spPr>
          <a:xfrm>
            <a:off x="8713440" y="4832449"/>
            <a:ext cx="50551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m0xu/1-projects/capstone/pptx-workspace/slides/bg-band.png" id="105" name="Google Shape;10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9"/>
          <p:cNvSpPr/>
          <p:nvPr/>
        </p:nvSpPr>
        <p:spPr>
          <a:xfrm>
            <a:off x="7516267" y="253901"/>
            <a:ext cx="1246733" cy="463451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9"/>
          <p:cNvSpPr/>
          <p:nvPr/>
        </p:nvSpPr>
        <p:spPr>
          <a:xfrm>
            <a:off x="7693968" y="418951"/>
            <a:ext cx="90915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HAILU TESFAYE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9"/>
          <p:cNvSpPr/>
          <p:nvPr/>
        </p:nvSpPr>
        <p:spPr>
          <a:xfrm>
            <a:off x="634901" y="457200"/>
            <a:ext cx="8031682" cy="11389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0" i="0" lang="en-GB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SCOPE:</a:t>
            </a:r>
            <a:br>
              <a:rPr b="0" i="0" lang="en-GB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GB" sz="2600" u="none" cap="none" strike="noStrike">
                <a:solidFill>
                  <a:srgbClr val="00BAFF"/>
                </a:solidFill>
                <a:latin typeface="Arial"/>
                <a:ea typeface="Arial"/>
                <a:cs typeface="Arial"/>
                <a:sym typeface="Arial"/>
              </a:rPr>
              <a:t>WHAT WE'RE BUILDING —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BAFF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rgbClr val="00BAFF"/>
                </a:solidFill>
                <a:latin typeface="Arial"/>
                <a:ea typeface="Arial"/>
                <a:cs typeface="Arial"/>
                <a:sym typeface="Arial"/>
              </a:rPr>
              <a:t>AND WHAT WE'RE NOT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9"/>
          <p:cNvSpPr/>
          <p:nvPr/>
        </p:nvSpPr>
        <p:spPr>
          <a:xfrm>
            <a:off x="634901" y="1886470"/>
            <a:ext cx="3622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A100FF"/>
                </a:solidFill>
                <a:latin typeface="Arial"/>
                <a:ea typeface="Arial"/>
                <a:cs typeface="Arial"/>
                <a:sym typeface="Arial"/>
              </a:rPr>
              <a:t>IN SCOPE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m0xu/1-projects/capstone/pptx-workspace/slides/underline-purple.png" id="110" name="Google Shape;11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901" y="2161282"/>
            <a:ext cx="507950" cy="25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9"/>
          <p:cNvSpPr/>
          <p:nvPr/>
        </p:nvSpPr>
        <p:spPr>
          <a:xfrm>
            <a:off x="634901" y="2180034"/>
            <a:ext cx="1039564" cy="412552"/>
          </a:xfrm>
          <a:prstGeom prst="roundRect">
            <a:avLst>
              <a:gd fmla="val 6157" name="adj"/>
            </a:avLst>
          </a:prstGeom>
          <a:solidFill>
            <a:srgbClr val="00BAFF">
              <a:alpha val="7843"/>
            </a:srgbClr>
          </a:solidFill>
          <a:ln cap="flat" cmpd="sng" w="9525">
            <a:solidFill>
              <a:srgbClr val="00B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9"/>
          <p:cNvSpPr/>
          <p:nvPr/>
        </p:nvSpPr>
        <p:spPr>
          <a:xfrm>
            <a:off x="745927" y="2329160"/>
            <a:ext cx="833863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AFF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00BAFF"/>
                </a:solidFill>
                <a:latin typeface="Arial"/>
                <a:ea typeface="Arial"/>
                <a:cs typeface="Arial"/>
                <a:sym typeface="Arial"/>
              </a:rPr>
              <a:t>Multi-tenant auth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9"/>
          <p:cNvSpPr/>
          <p:nvPr/>
        </p:nvSpPr>
        <p:spPr>
          <a:xfrm>
            <a:off x="1737866" y="2180034"/>
            <a:ext cx="1310729" cy="412552"/>
          </a:xfrm>
          <a:prstGeom prst="roundRect">
            <a:avLst>
              <a:gd fmla="val 6157" name="adj"/>
            </a:avLst>
          </a:prstGeom>
          <a:solidFill>
            <a:srgbClr val="00BAFF">
              <a:alpha val="7843"/>
            </a:srgbClr>
          </a:solidFill>
          <a:ln cap="flat" cmpd="sng" w="9525">
            <a:solidFill>
              <a:srgbClr val="00B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9"/>
          <p:cNvSpPr/>
          <p:nvPr/>
        </p:nvSpPr>
        <p:spPr>
          <a:xfrm>
            <a:off x="1848892" y="2329160"/>
            <a:ext cx="1110451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AFF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00BAFF"/>
                </a:solidFill>
                <a:latin typeface="Arial"/>
                <a:ea typeface="Arial"/>
                <a:cs typeface="Arial"/>
                <a:sym typeface="Arial"/>
              </a:rPr>
              <a:t>Business profile setup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9"/>
          <p:cNvSpPr/>
          <p:nvPr/>
        </p:nvSpPr>
        <p:spPr>
          <a:xfrm>
            <a:off x="634901" y="2655987"/>
            <a:ext cx="1598116" cy="412552"/>
          </a:xfrm>
          <a:prstGeom prst="roundRect">
            <a:avLst>
              <a:gd fmla="val 6157" name="adj"/>
            </a:avLst>
          </a:prstGeom>
          <a:solidFill>
            <a:srgbClr val="00BAFF">
              <a:alpha val="7843"/>
            </a:srgbClr>
          </a:solidFill>
          <a:ln cap="flat" cmpd="sng" w="9525">
            <a:solidFill>
              <a:srgbClr val="00B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9"/>
          <p:cNvSpPr/>
          <p:nvPr/>
        </p:nvSpPr>
        <p:spPr>
          <a:xfrm>
            <a:off x="745927" y="2805113"/>
            <a:ext cx="1403586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AFF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00BAFF"/>
                </a:solidFill>
                <a:latin typeface="Arial"/>
                <a:ea typeface="Arial"/>
                <a:cs typeface="Arial"/>
                <a:sym typeface="Arial"/>
              </a:rPr>
              <a:t>Content generation (3 types)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9"/>
          <p:cNvSpPr/>
          <p:nvPr/>
        </p:nvSpPr>
        <p:spPr>
          <a:xfrm>
            <a:off x="2296418" y="2655987"/>
            <a:ext cx="1276499" cy="412552"/>
          </a:xfrm>
          <a:prstGeom prst="roundRect">
            <a:avLst>
              <a:gd fmla="val 6157" name="adj"/>
            </a:avLst>
          </a:prstGeom>
          <a:solidFill>
            <a:srgbClr val="00BAFF">
              <a:alpha val="7843"/>
            </a:srgbClr>
          </a:solidFill>
          <a:ln cap="flat" cmpd="sng" w="9525">
            <a:solidFill>
              <a:srgbClr val="00B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9"/>
          <p:cNvSpPr/>
          <p:nvPr/>
        </p:nvSpPr>
        <p:spPr>
          <a:xfrm>
            <a:off x="2407444" y="2805113"/>
            <a:ext cx="1075536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AFF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00BAFF"/>
                </a:solidFill>
                <a:latin typeface="Arial"/>
                <a:ea typeface="Arial"/>
                <a:cs typeface="Arial"/>
                <a:sym typeface="Arial"/>
              </a:rPr>
              <a:t>Built-in content editor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9"/>
          <p:cNvSpPr/>
          <p:nvPr/>
        </p:nvSpPr>
        <p:spPr>
          <a:xfrm>
            <a:off x="634901" y="3131939"/>
            <a:ext cx="1756023" cy="412552"/>
          </a:xfrm>
          <a:prstGeom prst="roundRect">
            <a:avLst>
              <a:gd fmla="val 6157" name="adj"/>
            </a:avLst>
          </a:prstGeom>
          <a:solidFill>
            <a:srgbClr val="00BAFF">
              <a:alpha val="7843"/>
            </a:srgbClr>
          </a:solidFill>
          <a:ln cap="flat" cmpd="sng" w="9525">
            <a:solidFill>
              <a:srgbClr val="00B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9"/>
          <p:cNvSpPr/>
          <p:nvPr/>
        </p:nvSpPr>
        <p:spPr>
          <a:xfrm>
            <a:off x="745927" y="3281065"/>
            <a:ext cx="1564651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AFF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00BAFF"/>
                </a:solidFill>
                <a:latin typeface="Arial"/>
                <a:ea typeface="Arial"/>
                <a:cs typeface="Arial"/>
                <a:sym typeface="Arial"/>
              </a:rPr>
              <a:t>Content storage and dashboard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9"/>
          <p:cNvSpPr/>
          <p:nvPr/>
        </p:nvSpPr>
        <p:spPr>
          <a:xfrm>
            <a:off x="2454325" y="3131939"/>
            <a:ext cx="1534567" cy="412552"/>
          </a:xfrm>
          <a:prstGeom prst="roundRect">
            <a:avLst>
              <a:gd fmla="val 6157" name="adj"/>
            </a:avLst>
          </a:prstGeom>
          <a:solidFill>
            <a:srgbClr val="00BAFF">
              <a:alpha val="7843"/>
            </a:srgbClr>
          </a:solidFill>
          <a:ln cap="flat" cmpd="sng" w="9525">
            <a:solidFill>
              <a:srgbClr val="00B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9"/>
          <p:cNvSpPr/>
          <p:nvPr/>
        </p:nvSpPr>
        <p:spPr>
          <a:xfrm>
            <a:off x="2565350" y="3281065"/>
            <a:ext cx="1338766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AFF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00BAFF"/>
                </a:solidFill>
                <a:latin typeface="Arial"/>
                <a:ea typeface="Arial"/>
                <a:cs typeface="Arial"/>
                <a:sym typeface="Arial"/>
              </a:rPr>
              <a:t>Tone and keyword analysis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9"/>
          <p:cNvSpPr/>
          <p:nvPr/>
        </p:nvSpPr>
        <p:spPr>
          <a:xfrm>
            <a:off x="634901" y="3607891"/>
            <a:ext cx="1451521" cy="412552"/>
          </a:xfrm>
          <a:prstGeom prst="roundRect">
            <a:avLst>
              <a:gd fmla="val 6157" name="adj"/>
            </a:avLst>
          </a:prstGeom>
          <a:solidFill>
            <a:srgbClr val="00BAFF">
              <a:alpha val="7843"/>
            </a:srgbClr>
          </a:solidFill>
          <a:ln cap="flat" cmpd="sng" w="9525">
            <a:solidFill>
              <a:srgbClr val="00B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9"/>
          <p:cNvSpPr/>
          <p:nvPr/>
        </p:nvSpPr>
        <p:spPr>
          <a:xfrm>
            <a:off x="745927" y="3757017"/>
            <a:ext cx="125405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AFF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00BAFF"/>
                </a:solidFill>
                <a:latin typeface="Arial"/>
                <a:ea typeface="Arial"/>
                <a:cs typeface="Arial"/>
                <a:sym typeface="Arial"/>
              </a:rPr>
              <a:t>Cloud deployment (SaaS)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9"/>
          <p:cNvSpPr/>
          <p:nvPr/>
        </p:nvSpPr>
        <p:spPr>
          <a:xfrm>
            <a:off x="2149822" y="3607891"/>
            <a:ext cx="1451670" cy="412552"/>
          </a:xfrm>
          <a:prstGeom prst="roundRect">
            <a:avLst>
              <a:gd fmla="val 6157" name="adj"/>
            </a:avLst>
          </a:prstGeom>
          <a:solidFill>
            <a:srgbClr val="00BAFF">
              <a:alpha val="7843"/>
            </a:srgbClr>
          </a:solidFill>
          <a:ln cap="flat" cmpd="sng" w="9525">
            <a:solidFill>
              <a:srgbClr val="00B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9"/>
          <p:cNvSpPr/>
          <p:nvPr/>
        </p:nvSpPr>
        <p:spPr>
          <a:xfrm>
            <a:off x="2260848" y="3757017"/>
            <a:ext cx="125421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AFF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00BAFF"/>
                </a:solidFill>
                <a:latin typeface="Arial"/>
                <a:ea typeface="Arial"/>
                <a:cs typeface="Arial"/>
                <a:sym typeface="Arial"/>
              </a:rPr>
              <a:t>Quality evaluation engine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19"/>
          <p:cNvCxnSpPr/>
          <p:nvPr/>
        </p:nvCxnSpPr>
        <p:spPr>
          <a:xfrm>
            <a:off x="4572000" y="1799332"/>
            <a:ext cx="0" cy="2221111"/>
          </a:xfrm>
          <a:prstGeom prst="straightConnector1">
            <a:avLst/>
          </a:prstGeom>
          <a:noFill/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19"/>
          <p:cNvSpPr/>
          <p:nvPr/>
        </p:nvSpPr>
        <p:spPr>
          <a:xfrm>
            <a:off x="4980763" y="1923020"/>
            <a:ext cx="3622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OUT OF SCOPE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m0xu/1-projects/capstone/pptx-workspace/slides/underline-purple.png" id="129" name="Google Shape;12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7763" y="2161282"/>
            <a:ext cx="507950" cy="2530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9"/>
          <p:cNvSpPr/>
          <p:nvPr/>
        </p:nvSpPr>
        <p:spPr>
          <a:xfrm>
            <a:off x="4957763" y="2180034"/>
            <a:ext cx="1215182" cy="412552"/>
          </a:xfrm>
          <a:prstGeom prst="roundRect">
            <a:avLst>
              <a:gd fmla="val 6157" name="adj"/>
            </a:avLst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5068788" y="2329160"/>
            <a:ext cx="1012993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Campaign automation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6236345" y="2180034"/>
            <a:ext cx="955477" cy="412552"/>
          </a:xfrm>
          <a:prstGeom prst="roundRect">
            <a:avLst>
              <a:gd fmla="val 6157" name="adj"/>
            </a:avLst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6347371" y="2329160"/>
            <a:ext cx="748094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CRM integration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4957763" y="2655987"/>
            <a:ext cx="1339304" cy="412552"/>
          </a:xfrm>
          <a:prstGeom prst="roundRect">
            <a:avLst>
              <a:gd fmla="val 6157" name="adj"/>
            </a:avLst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9"/>
          <p:cNvSpPr/>
          <p:nvPr/>
        </p:nvSpPr>
        <p:spPr>
          <a:xfrm>
            <a:off x="5068788" y="2805113"/>
            <a:ext cx="113959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Image / video generation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6360468" y="2655987"/>
            <a:ext cx="1096714" cy="412552"/>
          </a:xfrm>
          <a:prstGeom prst="roundRect">
            <a:avLst>
              <a:gd fmla="val 6157" name="adj"/>
            </a:avLst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6471493" y="2805113"/>
            <a:ext cx="892156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Advanced analytics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4957763" y="3131939"/>
            <a:ext cx="1316534" cy="412552"/>
          </a:xfrm>
          <a:prstGeom prst="roundRect">
            <a:avLst>
              <a:gd fmla="val 6157" name="adj"/>
            </a:avLst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5068788" y="3281065"/>
            <a:ext cx="1116372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Commercial deployment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634901" y="4832449"/>
            <a:ext cx="1420588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NIT3003 | Victoria University | 2026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8713440" y="4832449"/>
            <a:ext cx="50551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m0xu/1-projects/capstone/pptx-workspace/slides/bg-white.png" id="147" name="Google Shape;14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0"/>
          <p:cNvSpPr/>
          <p:nvPr/>
        </p:nvSpPr>
        <p:spPr>
          <a:xfrm>
            <a:off x="7687866" y="253901"/>
            <a:ext cx="1075134" cy="463451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0"/>
          <p:cNvSpPr/>
          <p:nvPr/>
        </p:nvSpPr>
        <p:spPr>
          <a:xfrm>
            <a:off x="7865566" y="418951"/>
            <a:ext cx="73412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SEMIR ABDU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0"/>
          <p:cNvSpPr/>
          <p:nvPr/>
        </p:nvSpPr>
        <p:spPr>
          <a:xfrm>
            <a:off x="634901" y="330101"/>
            <a:ext cx="803168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FUNCTIONAL REQUIREMENTS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0"/>
          <p:cNvSpPr/>
          <p:nvPr/>
        </p:nvSpPr>
        <p:spPr>
          <a:xfrm>
            <a:off x="568026" y="834851"/>
            <a:ext cx="8031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A100FF"/>
                </a:solidFill>
                <a:latin typeface="Arial"/>
                <a:ea typeface="Arial"/>
                <a:cs typeface="Arial"/>
                <a:sym typeface="Arial"/>
              </a:rPr>
              <a:t>What the system must 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m0xu/1-projects/capstone/pptx-workspace/slides/underline-purple.png" id="152" name="Google Shape;15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901" y="1104751"/>
            <a:ext cx="507950" cy="25301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0"/>
          <p:cNvSpPr/>
          <p:nvPr/>
        </p:nvSpPr>
        <p:spPr>
          <a:xfrm>
            <a:off x="634901" y="1148953"/>
            <a:ext cx="2793802" cy="1203573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" name="Google Shape;154;p20"/>
          <p:cNvCxnSpPr/>
          <p:nvPr/>
        </p:nvCxnSpPr>
        <p:spPr>
          <a:xfrm>
            <a:off x="634901" y="1168003"/>
            <a:ext cx="2793802" cy="0"/>
          </a:xfrm>
          <a:prstGeom prst="straightConnector1">
            <a:avLst/>
          </a:prstGeom>
          <a:noFill/>
          <a:ln cap="flat" cmpd="sng" w="38100">
            <a:solidFill>
              <a:srgbClr val="A1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p20"/>
          <p:cNvSpPr/>
          <p:nvPr/>
        </p:nvSpPr>
        <p:spPr>
          <a:xfrm>
            <a:off x="761851" y="1415504"/>
            <a:ext cx="259069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A100FF"/>
                </a:solidFill>
                <a:latin typeface="Arial"/>
                <a:ea typeface="Arial"/>
                <a:cs typeface="Arial"/>
                <a:sym typeface="Arial"/>
              </a:rPr>
              <a:t>AUTHENTICATION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0"/>
          <p:cNvSpPr/>
          <p:nvPr/>
        </p:nvSpPr>
        <p:spPr>
          <a:xfrm>
            <a:off x="761851" y="1631305"/>
            <a:ext cx="2590699" cy="479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Email/password login with hashed storage (bcrypt). Session management via Supabase Auth.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0"/>
          <p:cNvSpPr/>
          <p:nvPr/>
        </p:nvSpPr>
        <p:spPr>
          <a:xfrm>
            <a:off x="3530203" y="1148953"/>
            <a:ext cx="2793802" cy="1203573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" name="Google Shape;158;p20"/>
          <p:cNvCxnSpPr/>
          <p:nvPr/>
        </p:nvCxnSpPr>
        <p:spPr>
          <a:xfrm>
            <a:off x="3530203" y="1168003"/>
            <a:ext cx="2793802" cy="0"/>
          </a:xfrm>
          <a:prstGeom prst="straightConnector1">
            <a:avLst/>
          </a:prstGeom>
          <a:noFill/>
          <a:ln cap="flat" cmpd="sng" w="38100">
            <a:solidFill>
              <a:srgbClr val="A1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" name="Google Shape;159;p20"/>
          <p:cNvSpPr/>
          <p:nvPr/>
        </p:nvSpPr>
        <p:spPr>
          <a:xfrm>
            <a:off x="3657154" y="1415504"/>
            <a:ext cx="259069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A100FF"/>
                </a:solidFill>
                <a:latin typeface="Arial"/>
                <a:ea typeface="Arial"/>
                <a:cs typeface="Arial"/>
                <a:sym typeface="Arial"/>
              </a:rPr>
              <a:t>PROFILE MANAGEMENT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3657154" y="1631305"/>
            <a:ext cx="2590699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Business profile: name, industry, target audience, brand tone. Validated inputs.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634901" y="2454027"/>
            <a:ext cx="2793802" cy="1043583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" name="Google Shape;162;p20"/>
          <p:cNvCxnSpPr/>
          <p:nvPr/>
        </p:nvCxnSpPr>
        <p:spPr>
          <a:xfrm>
            <a:off x="634901" y="2473077"/>
            <a:ext cx="2793802" cy="0"/>
          </a:xfrm>
          <a:prstGeom prst="straightConnector1">
            <a:avLst/>
          </a:prstGeom>
          <a:noFill/>
          <a:ln cap="flat" cmpd="sng" w="38100">
            <a:solidFill>
              <a:srgbClr val="A1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" name="Google Shape;163;p20"/>
          <p:cNvSpPr/>
          <p:nvPr/>
        </p:nvSpPr>
        <p:spPr>
          <a:xfrm>
            <a:off x="761851" y="2720578"/>
            <a:ext cx="259069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A100FF"/>
                </a:solidFill>
                <a:latin typeface="Arial"/>
                <a:ea typeface="Arial"/>
                <a:cs typeface="Arial"/>
                <a:sym typeface="Arial"/>
              </a:rPr>
              <a:t>CONTENT GENERATION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761851" y="2936379"/>
            <a:ext cx="2590699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Type selector (social, blog, email). AI generation with progress indicator.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3530203" y="2454027"/>
            <a:ext cx="2793802" cy="1043583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" name="Google Shape;166;p20"/>
          <p:cNvCxnSpPr/>
          <p:nvPr/>
        </p:nvCxnSpPr>
        <p:spPr>
          <a:xfrm>
            <a:off x="3530203" y="2473077"/>
            <a:ext cx="2793802" cy="0"/>
          </a:xfrm>
          <a:prstGeom prst="straightConnector1">
            <a:avLst/>
          </a:prstGeom>
          <a:noFill/>
          <a:ln cap="flat" cmpd="sng" w="38100">
            <a:solidFill>
              <a:srgbClr val="A1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" name="Google Shape;167;p20"/>
          <p:cNvSpPr/>
          <p:nvPr/>
        </p:nvSpPr>
        <p:spPr>
          <a:xfrm>
            <a:off x="3657154" y="2720578"/>
            <a:ext cx="259069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A100FF"/>
                </a:solidFill>
                <a:latin typeface="Arial"/>
                <a:ea typeface="Arial"/>
                <a:cs typeface="Arial"/>
                <a:sym typeface="Arial"/>
              </a:rPr>
              <a:t>QUALITY AND RATING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3657154" y="2936379"/>
            <a:ext cx="2590699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1-5 star rating on every draft. Automated 5-metric quality scoring displayed.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634901" y="3599111"/>
            <a:ext cx="2793802" cy="1043583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" name="Google Shape;170;p20"/>
          <p:cNvCxnSpPr/>
          <p:nvPr/>
        </p:nvCxnSpPr>
        <p:spPr>
          <a:xfrm>
            <a:off x="634901" y="3618161"/>
            <a:ext cx="2793802" cy="0"/>
          </a:xfrm>
          <a:prstGeom prst="straightConnector1">
            <a:avLst/>
          </a:prstGeom>
          <a:noFill/>
          <a:ln cap="flat" cmpd="sng" w="38100">
            <a:solidFill>
              <a:srgbClr val="A1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" name="Google Shape;171;p20"/>
          <p:cNvSpPr/>
          <p:nvPr/>
        </p:nvSpPr>
        <p:spPr>
          <a:xfrm>
            <a:off x="761851" y="3865662"/>
            <a:ext cx="259069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A100FF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761851" y="4081463"/>
            <a:ext cx="2590699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Content history with search, filter, delete. Usage metrics at a glance.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3530203" y="3599111"/>
            <a:ext cx="2793802" cy="1043583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4" name="Google Shape;174;p20"/>
          <p:cNvCxnSpPr/>
          <p:nvPr/>
        </p:nvCxnSpPr>
        <p:spPr>
          <a:xfrm>
            <a:off x="3530203" y="3618161"/>
            <a:ext cx="2793802" cy="0"/>
          </a:xfrm>
          <a:prstGeom prst="straightConnector1">
            <a:avLst/>
          </a:prstGeom>
          <a:noFill/>
          <a:ln cap="flat" cmpd="sng" w="38100">
            <a:solidFill>
              <a:srgbClr val="A1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5" name="Google Shape;175;p20"/>
          <p:cNvSpPr/>
          <p:nvPr/>
        </p:nvSpPr>
        <p:spPr>
          <a:xfrm>
            <a:off x="3657154" y="3865662"/>
            <a:ext cx="259069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A100FF"/>
                </a:solidFill>
                <a:latin typeface="Arial"/>
                <a:ea typeface="Arial"/>
                <a:cs typeface="Arial"/>
                <a:sym typeface="Arial"/>
              </a:rPr>
              <a:t>EXPORT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3657154" y="4081463"/>
            <a:ext cx="2590699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Copy to clipboard. Rich-text editor for review and editing before publishing.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634901" y="4832449"/>
            <a:ext cx="1420588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NIT3003 | Victoria University | 2026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8713440" y="4832449"/>
            <a:ext cx="50551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m0xu/1-projects/capstone/pptx-workspace/slides/bg-white.png" id="184" name="Google Shape;18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95" y="0"/>
            <a:ext cx="555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1"/>
          <p:cNvSpPr/>
          <p:nvPr/>
        </p:nvSpPr>
        <p:spPr>
          <a:xfrm>
            <a:off x="7973191" y="62851"/>
            <a:ext cx="1075200" cy="4635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8150891" y="227901"/>
            <a:ext cx="7341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SEMIR ABDU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507950" y="228500"/>
            <a:ext cx="58149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DATABASE DESIGN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508025" y="531575"/>
            <a:ext cx="5814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A100FF"/>
                </a:solidFill>
                <a:latin typeface="Arial"/>
                <a:ea typeface="Arial"/>
                <a:cs typeface="Arial"/>
                <a:sym typeface="Arial"/>
              </a:rPr>
              <a:t>Three-table relational schema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m0xu/1-projects/capstone/pptx-workspace/slides/underline-purple.png" id="189" name="Google Shape;18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950" y="720851"/>
            <a:ext cx="507950" cy="25301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/>
          <p:nvPr/>
        </p:nvSpPr>
        <p:spPr>
          <a:xfrm>
            <a:off x="507950" y="1072753"/>
            <a:ext cx="2641800" cy="3370500"/>
          </a:xfrm>
          <a:prstGeom prst="roundRect">
            <a:avLst>
              <a:gd fmla="val 962" name="adj"/>
            </a:avLst>
          </a:prstGeom>
          <a:solidFill>
            <a:srgbClr val="F8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430675" y="792615"/>
            <a:ext cx="2641800" cy="549300"/>
          </a:xfrm>
          <a:prstGeom prst="rect">
            <a:avLst/>
          </a:prstGeom>
          <a:solidFill>
            <a:srgbClr val="A100FF">
              <a:alpha val="1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532289" y="1071254"/>
            <a:ext cx="24876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A100FF"/>
                </a:solidFill>
                <a:latin typeface="Arial"/>
                <a:ea typeface="Arial"/>
                <a:cs typeface="Arial"/>
                <a:sym typeface="Arial"/>
              </a:rPr>
              <a:t>Users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p21"/>
          <p:cNvCxnSpPr/>
          <p:nvPr/>
        </p:nvCxnSpPr>
        <p:spPr>
          <a:xfrm>
            <a:off x="507950" y="2020193"/>
            <a:ext cx="2641800" cy="0"/>
          </a:xfrm>
          <a:prstGeom prst="straightConnector1">
            <a:avLst/>
          </a:prstGeom>
          <a:noFill/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" name="Google Shape;194;p21"/>
          <p:cNvSpPr/>
          <p:nvPr/>
        </p:nvSpPr>
        <p:spPr>
          <a:xfrm>
            <a:off x="532289" y="1696080"/>
            <a:ext cx="24876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id (PK)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5" name="Google Shape;195;p21"/>
          <p:cNvCxnSpPr/>
          <p:nvPr/>
        </p:nvCxnSpPr>
        <p:spPr>
          <a:xfrm>
            <a:off x="507950" y="2423220"/>
            <a:ext cx="2641800" cy="0"/>
          </a:xfrm>
          <a:prstGeom prst="straightConnector1">
            <a:avLst/>
          </a:prstGeom>
          <a:noFill/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" name="Google Shape;196;p21"/>
          <p:cNvSpPr/>
          <p:nvPr/>
        </p:nvSpPr>
        <p:spPr>
          <a:xfrm>
            <a:off x="609451" y="2164556"/>
            <a:ext cx="24876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email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7" name="Google Shape;197;p21"/>
          <p:cNvCxnSpPr/>
          <p:nvPr/>
        </p:nvCxnSpPr>
        <p:spPr>
          <a:xfrm>
            <a:off x="507950" y="2826246"/>
            <a:ext cx="2641800" cy="0"/>
          </a:xfrm>
          <a:prstGeom prst="straightConnector1">
            <a:avLst/>
          </a:prstGeom>
          <a:noFill/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" name="Google Shape;198;p21"/>
          <p:cNvSpPr/>
          <p:nvPr/>
        </p:nvSpPr>
        <p:spPr>
          <a:xfrm>
            <a:off x="609451" y="2567583"/>
            <a:ext cx="24876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GB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assword_hash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" name="Google Shape;199;p21"/>
          <p:cNvCxnSpPr/>
          <p:nvPr/>
        </p:nvCxnSpPr>
        <p:spPr>
          <a:xfrm>
            <a:off x="507950" y="3229273"/>
            <a:ext cx="2641699" cy="0"/>
          </a:xfrm>
          <a:prstGeom prst="straightConnector1">
            <a:avLst/>
          </a:prstGeom>
          <a:noFill/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" name="Google Shape;200;p21"/>
          <p:cNvSpPr/>
          <p:nvPr/>
        </p:nvSpPr>
        <p:spPr>
          <a:xfrm>
            <a:off x="609451" y="2970609"/>
            <a:ext cx="24876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created_at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3251150" y="1072753"/>
            <a:ext cx="2641699" cy="3370362"/>
          </a:xfrm>
          <a:prstGeom prst="roundRect">
            <a:avLst>
              <a:gd fmla="val 962" name="adj"/>
            </a:avLst>
          </a:prstGeom>
          <a:solidFill>
            <a:srgbClr val="F8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3251150" y="774353"/>
            <a:ext cx="2641800" cy="549300"/>
          </a:xfrm>
          <a:prstGeom prst="rect">
            <a:avLst/>
          </a:prstGeom>
          <a:solidFill>
            <a:srgbClr val="00BAFF">
              <a:alpha val="1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3328264" y="1122017"/>
            <a:ext cx="24876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AFF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00BAFF"/>
                </a:solidFill>
                <a:latin typeface="Arial"/>
                <a:ea typeface="Arial"/>
                <a:cs typeface="Arial"/>
                <a:sym typeface="Arial"/>
              </a:rPr>
              <a:t>Business_Profile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" name="Google Shape;204;p21"/>
          <p:cNvCxnSpPr/>
          <p:nvPr/>
        </p:nvCxnSpPr>
        <p:spPr>
          <a:xfrm>
            <a:off x="3251150" y="2020168"/>
            <a:ext cx="2641800" cy="0"/>
          </a:xfrm>
          <a:prstGeom prst="straightConnector1">
            <a:avLst/>
          </a:prstGeom>
          <a:noFill/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" name="Google Shape;205;p21"/>
          <p:cNvSpPr/>
          <p:nvPr/>
        </p:nvSpPr>
        <p:spPr>
          <a:xfrm>
            <a:off x="3328251" y="1686943"/>
            <a:ext cx="24876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id (PK)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" name="Google Shape;206;p21"/>
          <p:cNvCxnSpPr/>
          <p:nvPr/>
        </p:nvCxnSpPr>
        <p:spPr>
          <a:xfrm>
            <a:off x="3251150" y="2423220"/>
            <a:ext cx="2641699" cy="0"/>
          </a:xfrm>
          <a:prstGeom prst="straightConnector1">
            <a:avLst/>
          </a:prstGeom>
          <a:noFill/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7" name="Google Shape;207;p21"/>
          <p:cNvSpPr/>
          <p:nvPr/>
        </p:nvSpPr>
        <p:spPr>
          <a:xfrm>
            <a:off x="3352651" y="2164556"/>
            <a:ext cx="2487472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user_id (FK)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" name="Google Shape;208;p21"/>
          <p:cNvCxnSpPr/>
          <p:nvPr/>
        </p:nvCxnSpPr>
        <p:spPr>
          <a:xfrm>
            <a:off x="3251150" y="2826246"/>
            <a:ext cx="2641699" cy="0"/>
          </a:xfrm>
          <a:prstGeom prst="straightConnector1">
            <a:avLst/>
          </a:prstGeom>
          <a:noFill/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" name="Google Shape;209;p21"/>
          <p:cNvSpPr/>
          <p:nvPr/>
        </p:nvSpPr>
        <p:spPr>
          <a:xfrm>
            <a:off x="3352651" y="2567583"/>
            <a:ext cx="2487472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business_name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0" name="Google Shape;210;p21"/>
          <p:cNvCxnSpPr/>
          <p:nvPr/>
        </p:nvCxnSpPr>
        <p:spPr>
          <a:xfrm>
            <a:off x="3251150" y="3229273"/>
            <a:ext cx="2641699" cy="0"/>
          </a:xfrm>
          <a:prstGeom prst="straightConnector1">
            <a:avLst/>
          </a:prstGeom>
          <a:noFill/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" name="Google Shape;211;p21"/>
          <p:cNvSpPr/>
          <p:nvPr/>
        </p:nvSpPr>
        <p:spPr>
          <a:xfrm>
            <a:off x="3352651" y="2970609"/>
            <a:ext cx="2487472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industry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2" name="Google Shape;212;p21"/>
          <p:cNvCxnSpPr/>
          <p:nvPr/>
        </p:nvCxnSpPr>
        <p:spPr>
          <a:xfrm>
            <a:off x="3251150" y="3632299"/>
            <a:ext cx="2641699" cy="0"/>
          </a:xfrm>
          <a:prstGeom prst="straightConnector1">
            <a:avLst/>
          </a:prstGeom>
          <a:noFill/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3" name="Google Shape;213;p21"/>
          <p:cNvSpPr/>
          <p:nvPr/>
        </p:nvSpPr>
        <p:spPr>
          <a:xfrm>
            <a:off x="3352651" y="3373636"/>
            <a:ext cx="2487472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target_audience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4" name="Google Shape;214;p21"/>
          <p:cNvCxnSpPr/>
          <p:nvPr/>
        </p:nvCxnSpPr>
        <p:spPr>
          <a:xfrm>
            <a:off x="3251150" y="4035326"/>
            <a:ext cx="2641699" cy="0"/>
          </a:xfrm>
          <a:prstGeom prst="straightConnector1">
            <a:avLst/>
          </a:prstGeom>
          <a:noFill/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" name="Google Shape;215;p21"/>
          <p:cNvSpPr/>
          <p:nvPr/>
        </p:nvSpPr>
        <p:spPr>
          <a:xfrm>
            <a:off x="3352651" y="3776662"/>
            <a:ext cx="2487472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brand_tone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6124300" y="1035875"/>
            <a:ext cx="2323200" cy="4020900"/>
          </a:xfrm>
          <a:prstGeom prst="roundRect">
            <a:avLst>
              <a:gd fmla="val 962" name="adj"/>
            </a:avLst>
          </a:prstGeom>
          <a:solidFill>
            <a:srgbClr val="F8F8FA"/>
          </a:solidFill>
          <a:ln>
            <a:noFill/>
          </a:ln>
        </p:spPr>
        <p:txBody>
          <a:bodyPr anchorCtr="0" anchor="ctr" bIns="40175" lIns="80400" spcFirstLastPara="1" rIns="80400" wrap="square" tIns="40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83"/>
              <a:buFont typeface="Calibri"/>
              <a:buNone/>
            </a:pPr>
            <a:r>
              <a:t/>
            </a:r>
            <a:endParaRPr b="0" i="0" sz="158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6124376" y="773488"/>
            <a:ext cx="2323200" cy="483000"/>
          </a:xfrm>
          <a:prstGeom prst="rect">
            <a:avLst/>
          </a:prstGeom>
          <a:solidFill>
            <a:srgbClr val="A100FF">
              <a:alpha val="10196"/>
            </a:srgbClr>
          </a:solidFill>
          <a:ln>
            <a:noFill/>
          </a:ln>
        </p:spPr>
        <p:txBody>
          <a:bodyPr anchorCtr="0" anchor="ctr" bIns="40175" lIns="80400" spcFirstLastPara="1" rIns="80400" wrap="square" tIns="40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83"/>
              <a:buFont typeface="Calibri"/>
              <a:buNone/>
            </a:pPr>
            <a:r>
              <a:t/>
            </a:r>
            <a:endParaRPr b="0" i="0" sz="158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6192140" y="1047068"/>
            <a:ext cx="21873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Pts val="879"/>
              <a:buFont typeface="Arial"/>
              <a:buNone/>
            </a:pPr>
            <a:r>
              <a:rPr b="1" i="0" lang="en-GB" sz="879" u="none" cap="none" strike="noStrike">
                <a:solidFill>
                  <a:srgbClr val="A100FF"/>
                </a:solidFill>
                <a:latin typeface="Arial"/>
                <a:ea typeface="Arial"/>
                <a:cs typeface="Arial"/>
                <a:sym typeface="Arial"/>
              </a:rPr>
              <a:t>Generated_Content</a:t>
            </a:r>
            <a:endParaRPr b="0" i="0" sz="8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9" name="Google Shape;219;p21"/>
          <p:cNvCxnSpPr/>
          <p:nvPr/>
        </p:nvCxnSpPr>
        <p:spPr>
          <a:xfrm>
            <a:off x="6124200" y="1684481"/>
            <a:ext cx="2323200" cy="0"/>
          </a:xfrm>
          <a:prstGeom prst="straightConnector1">
            <a:avLst/>
          </a:prstGeom>
          <a:noFill/>
          <a:ln cap="flat" cmpd="sng" w="837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0" name="Google Shape;220;p21"/>
          <p:cNvSpPr/>
          <p:nvPr/>
        </p:nvSpPr>
        <p:spPr>
          <a:xfrm>
            <a:off x="6238382" y="1539568"/>
            <a:ext cx="2187300" cy="1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03"/>
              <a:buFont typeface="Arial"/>
              <a:buNone/>
            </a:pPr>
            <a:r>
              <a:rPr b="1" i="0" lang="en-GB" sz="703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id (PK)</a:t>
            </a:r>
            <a:endParaRPr b="0" i="0" sz="70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p21"/>
          <p:cNvCxnSpPr/>
          <p:nvPr/>
        </p:nvCxnSpPr>
        <p:spPr>
          <a:xfrm>
            <a:off x="6124200" y="2155580"/>
            <a:ext cx="2323200" cy="0"/>
          </a:xfrm>
          <a:prstGeom prst="straightConnector1">
            <a:avLst/>
          </a:prstGeom>
          <a:noFill/>
          <a:ln cap="flat" cmpd="sng" w="837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" name="Google Shape;222;p21"/>
          <p:cNvSpPr/>
          <p:nvPr/>
        </p:nvSpPr>
        <p:spPr>
          <a:xfrm>
            <a:off x="6213431" y="1923130"/>
            <a:ext cx="2187300" cy="1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03"/>
              <a:buFont typeface="Arial"/>
              <a:buNone/>
            </a:pPr>
            <a:r>
              <a:rPr b="1" i="0" lang="en-GB" sz="703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user_id (FK)</a:t>
            </a:r>
            <a:endParaRPr b="0" i="0" sz="70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3" name="Google Shape;223;p21"/>
          <p:cNvCxnSpPr/>
          <p:nvPr/>
        </p:nvCxnSpPr>
        <p:spPr>
          <a:xfrm>
            <a:off x="6124288" y="2577767"/>
            <a:ext cx="2323200" cy="0"/>
          </a:xfrm>
          <a:prstGeom prst="straightConnector1">
            <a:avLst/>
          </a:prstGeom>
          <a:noFill/>
          <a:ln cap="flat" cmpd="sng" w="837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" name="Google Shape;224;p21"/>
          <p:cNvSpPr/>
          <p:nvPr/>
        </p:nvSpPr>
        <p:spPr>
          <a:xfrm>
            <a:off x="6213431" y="2316420"/>
            <a:ext cx="2187300" cy="1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03"/>
              <a:buFont typeface="Arial"/>
              <a:buNone/>
            </a:pPr>
            <a:r>
              <a:rPr b="0" i="0" lang="en-GB" sz="703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content_type</a:t>
            </a:r>
            <a:endParaRPr b="0" i="0" sz="70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5" name="Google Shape;225;p21"/>
          <p:cNvCxnSpPr/>
          <p:nvPr/>
        </p:nvCxnSpPr>
        <p:spPr>
          <a:xfrm>
            <a:off x="6124288" y="2932158"/>
            <a:ext cx="2323200" cy="0"/>
          </a:xfrm>
          <a:prstGeom prst="straightConnector1">
            <a:avLst/>
          </a:prstGeom>
          <a:noFill/>
          <a:ln cap="flat" cmpd="sng" w="837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6" name="Google Shape;226;p21"/>
          <p:cNvSpPr/>
          <p:nvPr/>
        </p:nvSpPr>
        <p:spPr>
          <a:xfrm>
            <a:off x="6213541" y="4122267"/>
            <a:ext cx="2187300" cy="1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03"/>
              <a:buFont typeface="Arial"/>
              <a:buNone/>
            </a:pPr>
            <a:r>
              <a:rPr lang="en-GB" sz="703">
                <a:solidFill>
                  <a:srgbClr val="333333"/>
                </a:solidFill>
              </a:rPr>
              <a:t>quality_score</a:t>
            </a:r>
            <a:endParaRPr b="0" i="0" sz="70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21"/>
          <p:cNvCxnSpPr/>
          <p:nvPr/>
        </p:nvCxnSpPr>
        <p:spPr>
          <a:xfrm>
            <a:off x="6124288" y="3286549"/>
            <a:ext cx="2323200" cy="0"/>
          </a:xfrm>
          <a:prstGeom prst="straightConnector1">
            <a:avLst/>
          </a:prstGeom>
          <a:noFill/>
          <a:ln cap="flat" cmpd="sng" w="837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21"/>
          <p:cNvSpPr/>
          <p:nvPr/>
        </p:nvSpPr>
        <p:spPr>
          <a:xfrm>
            <a:off x="6213562" y="3155886"/>
            <a:ext cx="2187300" cy="1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03"/>
              <a:buFont typeface="Arial"/>
              <a:buNone/>
            </a:pPr>
            <a:r>
              <a:rPr b="0" i="0" lang="en-GB" sz="703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rating</a:t>
            </a:r>
            <a:endParaRPr b="0" i="0" sz="70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9" name="Google Shape;229;p21"/>
          <p:cNvCxnSpPr/>
          <p:nvPr/>
        </p:nvCxnSpPr>
        <p:spPr>
          <a:xfrm>
            <a:off x="6124288" y="3640940"/>
            <a:ext cx="2323200" cy="0"/>
          </a:xfrm>
          <a:prstGeom prst="straightConnector1">
            <a:avLst/>
          </a:prstGeom>
          <a:noFill/>
          <a:ln cap="flat" cmpd="sng" w="837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0" name="Google Shape;230;p21"/>
          <p:cNvSpPr/>
          <p:nvPr/>
        </p:nvSpPr>
        <p:spPr>
          <a:xfrm>
            <a:off x="6213541" y="3413491"/>
            <a:ext cx="2187300" cy="1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03"/>
              <a:buFont typeface="Arial"/>
              <a:buNone/>
            </a:pPr>
            <a:r>
              <a:rPr b="0" i="0" lang="en-GB" sz="703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analysis_json</a:t>
            </a:r>
            <a:endParaRPr b="0" i="0" sz="70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1" name="Google Shape;231;p21"/>
          <p:cNvCxnSpPr/>
          <p:nvPr/>
        </p:nvCxnSpPr>
        <p:spPr>
          <a:xfrm>
            <a:off x="6124288" y="3995331"/>
            <a:ext cx="2323200" cy="0"/>
          </a:xfrm>
          <a:prstGeom prst="straightConnector1">
            <a:avLst/>
          </a:prstGeom>
          <a:noFill/>
          <a:ln cap="flat" cmpd="sng" w="837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2" name="Google Shape;232;p21"/>
          <p:cNvSpPr/>
          <p:nvPr/>
        </p:nvSpPr>
        <p:spPr>
          <a:xfrm>
            <a:off x="6213541" y="3767882"/>
            <a:ext cx="2187300" cy="1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03"/>
              <a:buFont typeface="Arial"/>
              <a:buNone/>
            </a:pPr>
            <a:r>
              <a:rPr b="0" i="0" lang="en-GB" sz="703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created_at</a:t>
            </a:r>
            <a:endParaRPr b="0" i="0" sz="70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3" name="Google Shape;233;p21"/>
          <p:cNvCxnSpPr/>
          <p:nvPr/>
        </p:nvCxnSpPr>
        <p:spPr>
          <a:xfrm>
            <a:off x="527000" y="4519315"/>
            <a:ext cx="0" cy="418802"/>
          </a:xfrm>
          <a:prstGeom prst="straightConnector1">
            <a:avLst/>
          </a:prstGeom>
          <a:noFill/>
          <a:ln cap="flat" cmpd="sng" w="38100">
            <a:solidFill>
              <a:srgbClr val="A1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4" name="Google Shape;234;p21"/>
          <p:cNvSpPr/>
          <p:nvPr/>
        </p:nvSpPr>
        <p:spPr>
          <a:xfrm>
            <a:off x="673000" y="4671575"/>
            <a:ext cx="50097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A100FF"/>
                </a:solidFill>
                <a:latin typeface="Arial"/>
                <a:ea typeface="Arial"/>
                <a:cs typeface="Arial"/>
                <a:sym typeface="Arial"/>
              </a:rPr>
              <a:t>Foreign keys</a:t>
            </a:r>
            <a:r>
              <a:rPr b="0" i="0" lang="en-GB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 enforce data isolation per user (multi-tenancy via row-level security)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634901" y="4832449"/>
            <a:ext cx="1420588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NIT3003 | Victoria University | 2026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8515273" y="4341870"/>
            <a:ext cx="44700" cy="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16"/>
              <a:buFont typeface="Arial"/>
              <a:buNone/>
            </a:pPr>
            <a:r>
              <a:rPr b="0" i="0" lang="en-GB" sz="615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61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3328201" y="4179712"/>
            <a:ext cx="24876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Arial"/>
              <a:buNone/>
            </a:pPr>
            <a:r>
              <a:rPr lang="en-GB" sz="800">
                <a:solidFill>
                  <a:srgbClr val="333333"/>
                </a:solidFill>
              </a:rPr>
              <a:t>description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8" name="Google Shape;238;p21"/>
          <p:cNvCxnSpPr/>
          <p:nvPr/>
        </p:nvCxnSpPr>
        <p:spPr>
          <a:xfrm>
            <a:off x="6124381" y="4341862"/>
            <a:ext cx="2323200" cy="0"/>
          </a:xfrm>
          <a:prstGeom prst="straightConnector1">
            <a:avLst/>
          </a:prstGeom>
          <a:noFill/>
          <a:ln cap="flat" cmpd="sng" w="837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" name="Google Shape;239;p21"/>
          <p:cNvSpPr/>
          <p:nvPr/>
        </p:nvSpPr>
        <p:spPr>
          <a:xfrm>
            <a:off x="6192278" y="4460890"/>
            <a:ext cx="2033100" cy="1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03"/>
              <a:buFont typeface="Arial"/>
              <a:buNone/>
            </a:pPr>
            <a:r>
              <a:rPr lang="en-GB" sz="703">
                <a:solidFill>
                  <a:srgbClr val="333333"/>
                </a:solidFill>
              </a:rPr>
              <a:t>status</a:t>
            </a:r>
            <a:endParaRPr b="0" i="0" sz="70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6192162" y="2736161"/>
            <a:ext cx="2187300" cy="1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83"/>
              <a:buFont typeface="Calibri"/>
              <a:buNone/>
            </a:pPr>
            <a:r>
              <a:rPr lang="en-GB" sz="703">
                <a:solidFill>
                  <a:schemeClr val="dk1"/>
                </a:solidFill>
              </a:rPr>
              <a:t>quality_score</a:t>
            </a:r>
            <a:endParaRPr b="0" i="0" sz="70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1" name="Google Shape;241;p21"/>
          <p:cNvCxnSpPr/>
          <p:nvPr/>
        </p:nvCxnSpPr>
        <p:spPr>
          <a:xfrm>
            <a:off x="6145481" y="4728737"/>
            <a:ext cx="2323200" cy="0"/>
          </a:xfrm>
          <a:prstGeom prst="straightConnector1">
            <a:avLst/>
          </a:prstGeom>
          <a:noFill/>
          <a:ln cap="flat" cmpd="sng" w="837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2" name="Google Shape;242;p21"/>
          <p:cNvSpPr/>
          <p:nvPr/>
        </p:nvSpPr>
        <p:spPr>
          <a:xfrm>
            <a:off x="6192278" y="4799515"/>
            <a:ext cx="2033100" cy="1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03"/>
              <a:buFont typeface="Arial"/>
              <a:buNone/>
            </a:pPr>
            <a:r>
              <a:rPr lang="en-GB" sz="703">
                <a:solidFill>
                  <a:srgbClr val="333333"/>
                </a:solidFill>
              </a:rPr>
              <a:t>edited_at</a:t>
            </a:r>
            <a:endParaRPr b="0" i="0" sz="70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m0xu/1-projects/capstone/pptx-workspace/slides/bg-white.png" id="248" name="Google Shape;24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2"/>
          <p:cNvSpPr/>
          <p:nvPr/>
        </p:nvSpPr>
        <p:spPr>
          <a:xfrm>
            <a:off x="7687866" y="253901"/>
            <a:ext cx="1075134" cy="463451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7865566" y="418951"/>
            <a:ext cx="73412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SEMIR ABDU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634901" y="330101"/>
            <a:ext cx="803168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CASES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634901" y="704701"/>
            <a:ext cx="803168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A100FF"/>
                </a:solidFill>
                <a:latin typeface="Arial"/>
                <a:ea typeface="Arial"/>
                <a:cs typeface="Arial"/>
                <a:sym typeface="Arial"/>
              </a:rPr>
              <a:t>Core user interactions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m0xu/1-projects/capstone/pptx-workspace/slides/underline-purple.png" id="253" name="Google Shape;25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901" y="1104751"/>
            <a:ext cx="507950" cy="25301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2"/>
          <p:cNvSpPr/>
          <p:nvPr/>
        </p:nvSpPr>
        <p:spPr>
          <a:xfrm>
            <a:off x="634901" y="1174403"/>
            <a:ext cx="1873300" cy="1654522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5" name="Google Shape;255;p22"/>
          <p:cNvCxnSpPr/>
          <p:nvPr/>
        </p:nvCxnSpPr>
        <p:spPr>
          <a:xfrm>
            <a:off x="653951" y="1174403"/>
            <a:ext cx="0" cy="1654522"/>
          </a:xfrm>
          <a:prstGeom prst="straightConnector1">
            <a:avLst/>
          </a:prstGeom>
          <a:noFill/>
          <a:ln cap="flat" cmpd="sng" w="38100">
            <a:solidFill>
              <a:srgbClr val="A1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22"/>
          <p:cNvSpPr/>
          <p:nvPr/>
        </p:nvSpPr>
        <p:spPr>
          <a:xfrm>
            <a:off x="799951" y="1415653"/>
            <a:ext cx="16129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AFF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00BAFF"/>
                </a:solidFill>
                <a:latin typeface="Arial"/>
                <a:ea typeface="Arial"/>
                <a:cs typeface="Arial"/>
                <a:sym typeface="Arial"/>
              </a:rPr>
              <a:t>UC-01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2"/>
          <p:cNvSpPr/>
          <p:nvPr/>
        </p:nvSpPr>
        <p:spPr>
          <a:xfrm>
            <a:off x="799951" y="1663303"/>
            <a:ext cx="16129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Register and Create Profile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799951" y="2107704"/>
            <a:ext cx="1612925" cy="479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Sign up, complete business profile with industry, tone, audience data.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2"/>
          <p:cNvSpPr/>
          <p:nvPr/>
        </p:nvSpPr>
        <p:spPr>
          <a:xfrm>
            <a:off x="2635151" y="1174403"/>
            <a:ext cx="1873448" cy="1654522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0" name="Google Shape;260;p22"/>
          <p:cNvCxnSpPr/>
          <p:nvPr/>
        </p:nvCxnSpPr>
        <p:spPr>
          <a:xfrm>
            <a:off x="2654201" y="1174403"/>
            <a:ext cx="0" cy="1654522"/>
          </a:xfrm>
          <a:prstGeom prst="straightConnector1">
            <a:avLst/>
          </a:prstGeom>
          <a:noFill/>
          <a:ln cap="flat" cmpd="sng" w="38100">
            <a:solidFill>
              <a:srgbClr val="A1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1" name="Google Shape;261;p22"/>
          <p:cNvSpPr/>
          <p:nvPr/>
        </p:nvSpPr>
        <p:spPr>
          <a:xfrm>
            <a:off x="2800201" y="1415653"/>
            <a:ext cx="161307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AFF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00BAFF"/>
                </a:solidFill>
                <a:latin typeface="Arial"/>
                <a:ea typeface="Arial"/>
                <a:cs typeface="Arial"/>
                <a:sym typeface="Arial"/>
              </a:rPr>
              <a:t>UC-02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2"/>
          <p:cNvSpPr/>
          <p:nvPr/>
        </p:nvSpPr>
        <p:spPr>
          <a:xfrm>
            <a:off x="2800201" y="1663303"/>
            <a:ext cx="161307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Generate Content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2"/>
          <p:cNvSpPr/>
          <p:nvPr/>
        </p:nvSpPr>
        <p:spPr>
          <a:xfrm>
            <a:off x="2800201" y="1955304"/>
            <a:ext cx="1613077" cy="479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Select type, enter topic. System calls AI and evaluates quality.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2"/>
          <p:cNvSpPr/>
          <p:nvPr/>
        </p:nvSpPr>
        <p:spPr>
          <a:xfrm>
            <a:off x="4635550" y="1174403"/>
            <a:ext cx="1873300" cy="1654522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5" name="Google Shape;265;p22"/>
          <p:cNvCxnSpPr/>
          <p:nvPr/>
        </p:nvCxnSpPr>
        <p:spPr>
          <a:xfrm>
            <a:off x="4654600" y="1174403"/>
            <a:ext cx="0" cy="1654522"/>
          </a:xfrm>
          <a:prstGeom prst="straightConnector1">
            <a:avLst/>
          </a:prstGeom>
          <a:noFill/>
          <a:ln cap="flat" cmpd="sng" w="38100">
            <a:solidFill>
              <a:srgbClr val="A1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6" name="Google Shape;266;p22"/>
          <p:cNvSpPr/>
          <p:nvPr/>
        </p:nvSpPr>
        <p:spPr>
          <a:xfrm>
            <a:off x="4800600" y="1415653"/>
            <a:ext cx="16129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AFF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00BAFF"/>
                </a:solidFill>
                <a:latin typeface="Arial"/>
                <a:ea typeface="Arial"/>
                <a:cs typeface="Arial"/>
                <a:sym typeface="Arial"/>
              </a:rPr>
              <a:t>UC-03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2"/>
          <p:cNvSpPr/>
          <p:nvPr/>
        </p:nvSpPr>
        <p:spPr>
          <a:xfrm>
            <a:off x="4800600" y="1663303"/>
            <a:ext cx="16129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Review, Rate, Export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2"/>
          <p:cNvSpPr/>
          <p:nvPr/>
        </p:nvSpPr>
        <p:spPr>
          <a:xfrm>
            <a:off x="4800600" y="1955304"/>
            <a:ext cx="1612925" cy="479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Edit in editor, rate 1-5 stars, copy to clipboard for publishing.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2"/>
          <p:cNvSpPr/>
          <p:nvPr/>
        </p:nvSpPr>
        <p:spPr>
          <a:xfrm>
            <a:off x="6635800" y="1174403"/>
            <a:ext cx="1873300" cy="1654522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0" name="Google Shape;270;p22"/>
          <p:cNvCxnSpPr/>
          <p:nvPr/>
        </p:nvCxnSpPr>
        <p:spPr>
          <a:xfrm>
            <a:off x="6654850" y="1174403"/>
            <a:ext cx="0" cy="1654522"/>
          </a:xfrm>
          <a:prstGeom prst="straightConnector1">
            <a:avLst/>
          </a:prstGeom>
          <a:noFill/>
          <a:ln cap="flat" cmpd="sng" w="38100">
            <a:solidFill>
              <a:srgbClr val="A1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1" name="Google Shape;271;p22"/>
          <p:cNvSpPr/>
          <p:nvPr/>
        </p:nvSpPr>
        <p:spPr>
          <a:xfrm>
            <a:off x="6800850" y="1415653"/>
            <a:ext cx="16129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AFF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00BAFF"/>
                </a:solidFill>
                <a:latin typeface="Arial"/>
                <a:ea typeface="Arial"/>
                <a:cs typeface="Arial"/>
                <a:sym typeface="Arial"/>
              </a:rPr>
              <a:t>UC-04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2"/>
          <p:cNvSpPr/>
          <p:nvPr/>
        </p:nvSpPr>
        <p:spPr>
          <a:xfrm>
            <a:off x="6800850" y="1663303"/>
            <a:ext cx="16129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 Dashboard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2"/>
          <p:cNvSpPr/>
          <p:nvPr/>
        </p:nvSpPr>
        <p:spPr>
          <a:xfrm>
            <a:off x="6800850" y="1955304"/>
            <a:ext cx="16129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View history, filter by type, see quality scores, delete drafts.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2"/>
          <p:cNvSpPr/>
          <p:nvPr/>
        </p:nvSpPr>
        <p:spPr>
          <a:xfrm>
            <a:off x="634901" y="4832449"/>
            <a:ext cx="1420588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NIT3003 | Victoria University | 2026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2"/>
          <p:cNvSpPr/>
          <p:nvPr/>
        </p:nvSpPr>
        <p:spPr>
          <a:xfrm>
            <a:off x="8713440" y="4832449"/>
            <a:ext cx="50551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6" name="Google Shape;276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10175" y="3131412"/>
            <a:ext cx="923250" cy="139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50025" y="3033650"/>
            <a:ext cx="1043700" cy="168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43543" y="3033638"/>
            <a:ext cx="1180164" cy="184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38075" y="3146223"/>
            <a:ext cx="1075125" cy="1584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m0xu/1-projects/capstone/pptx-workspace/slides/bg-white.png" id="284" name="Google Shape;28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550"/>
            <a:ext cx="474134" cy="266701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3"/>
          <p:cNvSpPr/>
          <p:nvPr/>
        </p:nvSpPr>
        <p:spPr>
          <a:xfrm>
            <a:off x="7476083" y="253901"/>
            <a:ext cx="1287000" cy="4635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3"/>
          <p:cNvSpPr/>
          <p:nvPr/>
        </p:nvSpPr>
        <p:spPr>
          <a:xfrm>
            <a:off x="7653784" y="418951"/>
            <a:ext cx="9501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GB" sz="900">
                <a:solidFill>
                  <a:srgbClr val="FFFFFF"/>
                </a:solidFill>
              </a:rPr>
              <a:t>Semir Abdu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3"/>
          <p:cNvSpPr/>
          <p:nvPr/>
        </p:nvSpPr>
        <p:spPr>
          <a:xfrm>
            <a:off x="3365401" y="340925"/>
            <a:ext cx="2322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TIMELINE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3"/>
          <p:cNvSpPr/>
          <p:nvPr/>
        </p:nvSpPr>
        <p:spPr>
          <a:xfrm>
            <a:off x="3424354" y="706200"/>
            <a:ext cx="22047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Pts val="1475"/>
              <a:buFont typeface="Arial"/>
              <a:buNone/>
            </a:pPr>
            <a:r>
              <a:rPr b="1" i="0" lang="en-GB" sz="1475" u="none" cap="none" strike="noStrike">
                <a:solidFill>
                  <a:srgbClr val="A100FF"/>
                </a:solidFill>
                <a:latin typeface="Arial"/>
                <a:ea typeface="Arial"/>
                <a:cs typeface="Arial"/>
                <a:sym typeface="Arial"/>
              </a:rPr>
              <a:t>Phased delivery</a:t>
            </a:r>
            <a:endParaRPr b="0" i="0" sz="1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9" name="Google Shape;289;p23"/>
          <p:cNvCxnSpPr/>
          <p:nvPr/>
        </p:nvCxnSpPr>
        <p:spPr>
          <a:xfrm>
            <a:off x="789925" y="1653306"/>
            <a:ext cx="1015500" cy="0"/>
          </a:xfrm>
          <a:prstGeom prst="straightConnector1">
            <a:avLst/>
          </a:prstGeom>
          <a:noFill/>
          <a:ln cap="flat" cmpd="sng" w="21775">
            <a:solidFill>
              <a:srgbClr val="00BA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0" name="Google Shape;290;p23"/>
          <p:cNvSpPr/>
          <p:nvPr/>
        </p:nvSpPr>
        <p:spPr>
          <a:xfrm>
            <a:off x="626206" y="1825304"/>
            <a:ext cx="13551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5"/>
              <a:buFont typeface="Arial"/>
              <a:buNone/>
            </a:pPr>
            <a:r>
              <a:rPr b="1" i="0" lang="en-GB" sz="14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NIT3003</a:t>
            </a:r>
            <a:endParaRPr b="0" i="0" sz="149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3"/>
          <p:cNvSpPr/>
          <p:nvPr/>
        </p:nvSpPr>
        <p:spPr>
          <a:xfrm>
            <a:off x="626206" y="2228656"/>
            <a:ext cx="13551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96"/>
              <a:buFont typeface="Arial"/>
              <a:buNone/>
            </a:pPr>
            <a:r>
              <a:rPr b="0" i="0" lang="en-GB" sz="1195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Proposal and Design</a:t>
            </a:r>
            <a:endParaRPr b="0" i="0" sz="119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3"/>
          <p:cNvSpPr/>
          <p:nvPr/>
        </p:nvSpPr>
        <p:spPr>
          <a:xfrm>
            <a:off x="626206" y="2722113"/>
            <a:ext cx="1355100" cy="1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AFF"/>
              </a:buClr>
              <a:buSzPts val="1196"/>
              <a:buFont typeface="Arial"/>
              <a:buNone/>
            </a:pPr>
            <a:r>
              <a:rPr b="1" i="0" lang="en-GB" sz="1195" u="none" cap="none" strike="noStrike">
                <a:solidFill>
                  <a:srgbClr val="00BAFF"/>
                </a:solidFill>
                <a:latin typeface="Arial"/>
                <a:ea typeface="Arial"/>
                <a:cs typeface="Arial"/>
                <a:sym typeface="Arial"/>
              </a:rPr>
              <a:t>COMPLETE</a:t>
            </a:r>
            <a:endParaRPr b="0" i="0" sz="119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3" name="Google Shape;293;p23"/>
          <p:cNvCxnSpPr/>
          <p:nvPr/>
        </p:nvCxnSpPr>
        <p:spPr>
          <a:xfrm>
            <a:off x="2802999" y="1622383"/>
            <a:ext cx="1087500" cy="8700"/>
          </a:xfrm>
          <a:prstGeom prst="straightConnector1">
            <a:avLst/>
          </a:prstGeom>
          <a:noFill/>
          <a:ln cap="flat" cmpd="sng" w="21775">
            <a:solidFill>
              <a:srgbClr val="A1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4" name="Google Shape;294;p23"/>
          <p:cNvSpPr/>
          <p:nvPr/>
        </p:nvSpPr>
        <p:spPr>
          <a:xfrm>
            <a:off x="2687280" y="1812397"/>
            <a:ext cx="13557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5"/>
              <a:buFont typeface="Arial"/>
              <a:buNone/>
            </a:pPr>
            <a:r>
              <a:rPr b="1" i="0" lang="en-GB" sz="14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</a:t>
            </a:r>
            <a:endParaRPr b="0" i="0" sz="149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3"/>
          <p:cNvSpPr/>
          <p:nvPr/>
        </p:nvSpPr>
        <p:spPr>
          <a:xfrm>
            <a:off x="2687280" y="2215749"/>
            <a:ext cx="13557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96"/>
              <a:buFont typeface="Arial"/>
              <a:buNone/>
            </a:pPr>
            <a:r>
              <a:rPr b="0" i="0" lang="en-GB" sz="1195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Backend + Frontend</a:t>
            </a:r>
            <a:endParaRPr b="0" i="0" sz="119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3"/>
          <p:cNvSpPr/>
          <p:nvPr/>
        </p:nvSpPr>
        <p:spPr>
          <a:xfrm>
            <a:off x="2687280" y="2709206"/>
            <a:ext cx="1355700" cy="1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96"/>
              <a:buFont typeface="Arial"/>
              <a:buNone/>
            </a:pPr>
            <a:r>
              <a:rPr b="0" i="0" lang="en-GB" sz="1195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Auth, API, UI</a:t>
            </a:r>
            <a:endParaRPr b="0" i="0" sz="119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7" name="Google Shape;297;p23"/>
          <p:cNvCxnSpPr/>
          <p:nvPr/>
        </p:nvCxnSpPr>
        <p:spPr>
          <a:xfrm>
            <a:off x="5029562" y="1614750"/>
            <a:ext cx="1118100" cy="8400"/>
          </a:xfrm>
          <a:prstGeom prst="straightConnector1">
            <a:avLst/>
          </a:prstGeom>
          <a:noFill/>
          <a:ln cap="flat" cmpd="sng" w="21775">
            <a:solidFill>
              <a:srgbClr val="A1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" name="Google Shape;298;p23"/>
          <p:cNvSpPr/>
          <p:nvPr/>
        </p:nvSpPr>
        <p:spPr>
          <a:xfrm>
            <a:off x="4891411" y="1764313"/>
            <a:ext cx="13551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5"/>
              <a:buFont typeface="Arial"/>
              <a:buNone/>
            </a:pPr>
            <a:r>
              <a:rPr b="1" i="0" lang="en-GB" sz="14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Integrate</a:t>
            </a:r>
            <a:endParaRPr b="0" i="0" sz="149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3"/>
          <p:cNvSpPr/>
          <p:nvPr/>
        </p:nvSpPr>
        <p:spPr>
          <a:xfrm>
            <a:off x="4891411" y="2167665"/>
            <a:ext cx="1355100" cy="1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96"/>
              <a:buFont typeface="Arial"/>
              <a:buNone/>
            </a:pPr>
            <a:r>
              <a:rPr b="0" i="0" lang="en-GB" sz="1195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AI Pipeline</a:t>
            </a:r>
            <a:endParaRPr b="0" i="0" sz="119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3"/>
          <p:cNvSpPr/>
          <p:nvPr/>
        </p:nvSpPr>
        <p:spPr>
          <a:xfrm>
            <a:off x="4891411" y="2490259"/>
            <a:ext cx="1355100" cy="1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96"/>
              <a:buFont typeface="Arial"/>
              <a:buNone/>
            </a:pPr>
            <a:r>
              <a:rPr b="0" i="0" lang="en-GB" sz="1195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Quality Engine</a:t>
            </a:r>
            <a:endParaRPr b="0" i="0" sz="119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1" name="Google Shape;301;p23"/>
          <p:cNvCxnSpPr/>
          <p:nvPr/>
        </p:nvCxnSpPr>
        <p:spPr>
          <a:xfrm>
            <a:off x="7329483" y="1605925"/>
            <a:ext cx="1015500" cy="0"/>
          </a:xfrm>
          <a:prstGeom prst="straightConnector1">
            <a:avLst/>
          </a:prstGeom>
          <a:noFill/>
          <a:ln cap="flat" cmpd="sng" w="21775">
            <a:solidFill>
              <a:srgbClr val="A1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2" name="Google Shape;302;p23"/>
          <p:cNvSpPr/>
          <p:nvPr/>
        </p:nvSpPr>
        <p:spPr>
          <a:xfrm>
            <a:off x="7162696" y="1777453"/>
            <a:ext cx="13551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5"/>
              <a:buFont typeface="Arial"/>
              <a:buNone/>
            </a:pPr>
            <a:r>
              <a:rPr b="1" i="0" lang="en-GB" sz="14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NIT3004</a:t>
            </a:r>
            <a:endParaRPr b="0" i="0" sz="149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3"/>
          <p:cNvSpPr/>
          <p:nvPr/>
        </p:nvSpPr>
        <p:spPr>
          <a:xfrm>
            <a:off x="7162696" y="2180805"/>
            <a:ext cx="13551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96"/>
              <a:buFont typeface="Arial"/>
              <a:buNone/>
            </a:pPr>
            <a:r>
              <a:rPr b="0" i="0" lang="en-GB" sz="1195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Testing and Delivery</a:t>
            </a:r>
            <a:endParaRPr b="0" i="0" sz="119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3"/>
          <p:cNvSpPr/>
          <p:nvPr/>
        </p:nvSpPr>
        <p:spPr>
          <a:xfrm>
            <a:off x="7162696" y="2674262"/>
            <a:ext cx="1355100" cy="1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Pts val="1196"/>
              <a:buFont typeface="Arial"/>
              <a:buNone/>
            </a:pPr>
            <a:r>
              <a:rPr b="1" i="0" lang="en-GB" sz="1195" u="none" cap="none" strike="noStrike">
                <a:solidFill>
                  <a:srgbClr val="A100FF"/>
                </a:solidFill>
                <a:latin typeface="Arial"/>
                <a:ea typeface="Arial"/>
                <a:cs typeface="Arial"/>
                <a:sym typeface="Arial"/>
              </a:rPr>
              <a:t>80% TARGET</a:t>
            </a:r>
            <a:endParaRPr b="0" i="0" sz="119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5" name="Google Shape;305;p23"/>
          <p:cNvCxnSpPr/>
          <p:nvPr/>
        </p:nvCxnSpPr>
        <p:spPr>
          <a:xfrm>
            <a:off x="2148661" y="3866974"/>
            <a:ext cx="0" cy="660900"/>
          </a:xfrm>
          <a:prstGeom prst="straightConnector1">
            <a:avLst/>
          </a:prstGeom>
          <a:noFill/>
          <a:ln cap="flat" cmpd="sng" w="48925">
            <a:solidFill>
              <a:srgbClr val="00BA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" name="Google Shape;306;p23"/>
          <p:cNvSpPr/>
          <p:nvPr/>
        </p:nvSpPr>
        <p:spPr>
          <a:xfrm>
            <a:off x="2260070" y="4103983"/>
            <a:ext cx="42753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AFF"/>
              </a:buClr>
              <a:buSzPts val="1156"/>
              <a:buFont typeface="Arial"/>
              <a:buNone/>
            </a:pPr>
            <a:r>
              <a:rPr b="1" i="0" lang="en-GB" sz="1155" u="none" cap="none" strike="noStrike">
                <a:solidFill>
                  <a:srgbClr val="00BAFF"/>
                </a:solidFill>
                <a:latin typeface="Arial"/>
                <a:ea typeface="Arial"/>
                <a:cs typeface="Arial"/>
                <a:sym typeface="Arial"/>
              </a:rPr>
              <a:t>Goal:</a:t>
            </a:r>
            <a:r>
              <a:rPr b="0" i="0" lang="en-GB" sz="115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80% implementation complete before NIT3004 delivery.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3"/>
          <p:cNvSpPr/>
          <p:nvPr/>
        </p:nvSpPr>
        <p:spPr>
          <a:xfrm>
            <a:off x="634901" y="4832449"/>
            <a:ext cx="1420500" cy="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NIT3003 | Victoria University | 2026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3"/>
          <p:cNvSpPr/>
          <p:nvPr/>
        </p:nvSpPr>
        <p:spPr>
          <a:xfrm>
            <a:off x="8664029" y="4832449"/>
            <a:ext cx="101100" cy="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3"/>
          <p:cNvSpPr/>
          <p:nvPr/>
        </p:nvSpPr>
        <p:spPr>
          <a:xfrm>
            <a:off x="2803008" y="1777443"/>
            <a:ext cx="1100700" cy="1329300"/>
          </a:xfrm>
          <a:prstGeom prst="rect">
            <a:avLst/>
          </a:prstGeom>
          <a:solidFill>
            <a:srgbClr val="A100FF">
              <a:alpha val="10200"/>
            </a:srgbClr>
          </a:solidFill>
          <a:ln>
            <a:noFill/>
          </a:ln>
        </p:spPr>
        <p:txBody>
          <a:bodyPr anchorCtr="0" anchor="ctr" bIns="35425" lIns="70825" spcFirstLastPara="1" rIns="70825" wrap="square" tIns="35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Font typeface="Calibri"/>
              <a:buNone/>
            </a:pPr>
            <a:r>
              <a:t/>
            </a:r>
            <a:endParaRPr b="0" i="0" sz="139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3"/>
          <p:cNvSpPr/>
          <p:nvPr/>
        </p:nvSpPr>
        <p:spPr>
          <a:xfrm>
            <a:off x="789919" y="1790350"/>
            <a:ext cx="1015800" cy="1329300"/>
          </a:xfrm>
          <a:prstGeom prst="rect">
            <a:avLst/>
          </a:prstGeom>
          <a:solidFill>
            <a:srgbClr val="00BAFF">
              <a:alpha val="10200"/>
            </a:srgbClr>
          </a:solidFill>
          <a:ln>
            <a:noFill/>
          </a:ln>
        </p:spPr>
        <p:txBody>
          <a:bodyPr anchorCtr="0" anchor="ctr" bIns="35425" lIns="70825" spcFirstLastPara="1" rIns="70825" wrap="square" tIns="35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Font typeface="Calibri"/>
              <a:buNone/>
            </a:pPr>
            <a:r>
              <a:t/>
            </a:r>
            <a:endParaRPr b="0" i="0" sz="139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3"/>
          <p:cNvSpPr/>
          <p:nvPr/>
        </p:nvSpPr>
        <p:spPr>
          <a:xfrm>
            <a:off x="5061097" y="1764319"/>
            <a:ext cx="1100700" cy="1329300"/>
          </a:xfrm>
          <a:prstGeom prst="rect">
            <a:avLst/>
          </a:prstGeom>
          <a:solidFill>
            <a:srgbClr val="00BAFF">
              <a:alpha val="10200"/>
            </a:srgbClr>
          </a:solidFill>
          <a:ln>
            <a:noFill/>
          </a:ln>
        </p:spPr>
        <p:txBody>
          <a:bodyPr anchorCtr="0" anchor="ctr" bIns="35425" lIns="70825" spcFirstLastPara="1" rIns="70825" wrap="square" tIns="35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Font typeface="Calibri"/>
              <a:buNone/>
            </a:pPr>
            <a:r>
              <a:t/>
            </a:r>
            <a:endParaRPr b="0" i="0" sz="139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3"/>
          <p:cNvSpPr/>
          <p:nvPr/>
        </p:nvSpPr>
        <p:spPr>
          <a:xfrm>
            <a:off x="7247457" y="1734744"/>
            <a:ext cx="1179600" cy="1329300"/>
          </a:xfrm>
          <a:prstGeom prst="rect">
            <a:avLst/>
          </a:prstGeom>
          <a:solidFill>
            <a:srgbClr val="A100FF">
              <a:alpha val="10200"/>
            </a:srgbClr>
          </a:solidFill>
          <a:ln>
            <a:noFill/>
          </a:ln>
        </p:spPr>
        <p:txBody>
          <a:bodyPr anchorCtr="0" anchor="ctr" bIns="35425" lIns="70825" spcFirstLastPara="1" rIns="70825" wrap="square" tIns="35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Font typeface="Calibri"/>
              <a:buNone/>
            </a:pPr>
            <a:r>
              <a:t/>
            </a:r>
            <a:endParaRPr b="0" i="0" sz="139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3" name="Google Shape;31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68970" y="2065164"/>
            <a:ext cx="630294" cy="630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1550" y="2071303"/>
            <a:ext cx="630294" cy="630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89493" y="2075616"/>
            <a:ext cx="630294" cy="6302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6" name="Google Shape;316;p23"/>
          <p:cNvCxnSpPr/>
          <p:nvPr/>
        </p:nvCxnSpPr>
        <p:spPr>
          <a:xfrm flipH="1" rot="10800000">
            <a:off x="635001" y="1162303"/>
            <a:ext cx="8039700" cy="5700"/>
          </a:xfrm>
          <a:prstGeom prst="straightConnector1">
            <a:avLst/>
          </a:prstGeom>
          <a:noFill/>
          <a:ln cap="flat" cmpd="sng" w="38100">
            <a:solidFill>
              <a:srgbClr val="A100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m0xu/1-projects/capstone/pptx-workspace/slides/bg-band.png" id="322" name="Google Shape;32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4"/>
          <p:cNvSpPr/>
          <p:nvPr/>
        </p:nvSpPr>
        <p:spPr>
          <a:xfrm>
            <a:off x="7262515" y="253901"/>
            <a:ext cx="1500600" cy="4635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4"/>
          <p:cNvSpPr/>
          <p:nvPr/>
        </p:nvSpPr>
        <p:spPr>
          <a:xfrm>
            <a:off x="7440216" y="418951"/>
            <a:ext cx="11679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DANIEL PALAZZOLO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4"/>
          <p:cNvSpPr/>
          <p:nvPr/>
        </p:nvSpPr>
        <p:spPr>
          <a:xfrm>
            <a:off x="634901" y="457200"/>
            <a:ext cx="8031600" cy="7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SYSTEM ARCHITECTURE:</a:t>
            </a:r>
            <a:br>
              <a:rPr b="0" i="0" lang="en-GB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GB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FIVE </a:t>
            </a:r>
            <a:r>
              <a:rPr b="1" i="0" lang="en-GB" sz="2400" u="none" cap="none" strike="noStrike">
                <a:solidFill>
                  <a:srgbClr val="00BAFF"/>
                </a:solidFill>
                <a:latin typeface="Arial"/>
                <a:ea typeface="Arial"/>
                <a:cs typeface="Arial"/>
                <a:sym typeface="Arial"/>
              </a:rPr>
              <a:t>COMPONENT</a:t>
            </a:r>
            <a:r>
              <a:rPr b="1" lang="en-GB" sz="2400">
                <a:solidFill>
                  <a:srgbClr val="00BAFF"/>
                </a:solidFill>
              </a:rPr>
              <a:t> </a:t>
            </a:r>
            <a:r>
              <a:rPr b="1" i="0" lang="en-GB" sz="2400" u="none" cap="none" strike="noStrike">
                <a:solidFill>
                  <a:srgbClr val="00BAFF"/>
                </a:solidFill>
                <a:latin typeface="Arial"/>
                <a:ea typeface="Arial"/>
                <a:cs typeface="Arial"/>
                <a:sym typeface="Arial"/>
              </a:rPr>
              <a:t>DESIGN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4"/>
          <p:cNvSpPr/>
          <p:nvPr/>
        </p:nvSpPr>
        <p:spPr>
          <a:xfrm>
            <a:off x="634901" y="1412081"/>
            <a:ext cx="1357800" cy="948900"/>
          </a:xfrm>
          <a:prstGeom prst="roundRect">
            <a:avLst>
              <a:gd fmla="val 5353" name="adj"/>
            </a:avLst>
          </a:prstGeom>
          <a:solidFill>
            <a:srgbClr val="F8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7" name="Google Shape;327;p24"/>
          <p:cNvCxnSpPr/>
          <p:nvPr/>
        </p:nvCxnSpPr>
        <p:spPr>
          <a:xfrm>
            <a:off x="634901" y="1431131"/>
            <a:ext cx="1357800" cy="0"/>
          </a:xfrm>
          <a:prstGeom prst="straightConnector1">
            <a:avLst/>
          </a:prstGeom>
          <a:noFill/>
          <a:ln cap="flat" cmpd="sng" w="38100">
            <a:solidFill>
              <a:srgbClr val="00BA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8" name="Google Shape;328;p24"/>
          <p:cNvCxnSpPr/>
          <p:nvPr/>
        </p:nvCxnSpPr>
        <p:spPr>
          <a:xfrm>
            <a:off x="1988046" y="1412081"/>
            <a:ext cx="0" cy="94890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9" name="Google Shape;329;p24"/>
          <p:cNvCxnSpPr/>
          <p:nvPr/>
        </p:nvCxnSpPr>
        <p:spPr>
          <a:xfrm>
            <a:off x="634901" y="2356247"/>
            <a:ext cx="13578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0" name="Google Shape;330;p24"/>
          <p:cNvCxnSpPr/>
          <p:nvPr/>
        </p:nvCxnSpPr>
        <p:spPr>
          <a:xfrm>
            <a:off x="639663" y="1412081"/>
            <a:ext cx="0" cy="94890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1" name="Google Shape;331;p24"/>
          <p:cNvSpPr/>
          <p:nvPr/>
        </p:nvSpPr>
        <p:spPr>
          <a:xfrm>
            <a:off x="760527" y="1716732"/>
            <a:ext cx="11067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4"/>
          <p:cNvSpPr/>
          <p:nvPr/>
        </p:nvSpPr>
        <p:spPr>
          <a:xfrm>
            <a:off x="760527" y="2008733"/>
            <a:ext cx="11067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A100FF"/>
                </a:solidFill>
                <a:latin typeface="Arial"/>
                <a:ea typeface="Arial"/>
                <a:cs typeface="Arial"/>
                <a:sym typeface="Arial"/>
              </a:rPr>
              <a:t>Business Owner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4"/>
          <p:cNvSpPr/>
          <p:nvPr/>
        </p:nvSpPr>
        <p:spPr>
          <a:xfrm>
            <a:off x="2069000" y="1856375"/>
            <a:ext cx="121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A100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4"/>
          <p:cNvSpPr/>
          <p:nvPr/>
        </p:nvSpPr>
        <p:spPr>
          <a:xfrm>
            <a:off x="2263973" y="1412081"/>
            <a:ext cx="1357800" cy="948900"/>
          </a:xfrm>
          <a:prstGeom prst="roundRect">
            <a:avLst>
              <a:gd fmla="val 5353" name="adj"/>
            </a:avLst>
          </a:prstGeom>
          <a:solidFill>
            <a:srgbClr val="F8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5" name="Google Shape;335;p24"/>
          <p:cNvCxnSpPr/>
          <p:nvPr/>
        </p:nvCxnSpPr>
        <p:spPr>
          <a:xfrm>
            <a:off x="2263973" y="1431131"/>
            <a:ext cx="1357800" cy="0"/>
          </a:xfrm>
          <a:prstGeom prst="straightConnector1">
            <a:avLst/>
          </a:prstGeom>
          <a:noFill/>
          <a:ln cap="flat" cmpd="sng" w="38100">
            <a:solidFill>
              <a:srgbClr val="A100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6" name="Google Shape;336;p24"/>
          <p:cNvCxnSpPr/>
          <p:nvPr/>
        </p:nvCxnSpPr>
        <p:spPr>
          <a:xfrm>
            <a:off x="3617119" y="1412081"/>
            <a:ext cx="0" cy="94890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7" name="Google Shape;337;p24"/>
          <p:cNvCxnSpPr/>
          <p:nvPr/>
        </p:nvCxnSpPr>
        <p:spPr>
          <a:xfrm>
            <a:off x="2263973" y="2356247"/>
            <a:ext cx="13578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8" name="Google Shape;338;p24"/>
          <p:cNvCxnSpPr/>
          <p:nvPr/>
        </p:nvCxnSpPr>
        <p:spPr>
          <a:xfrm>
            <a:off x="2268736" y="1412081"/>
            <a:ext cx="0" cy="94890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9" name="Google Shape;339;p24"/>
          <p:cNvSpPr/>
          <p:nvPr/>
        </p:nvSpPr>
        <p:spPr>
          <a:xfrm>
            <a:off x="2389599" y="1716732"/>
            <a:ext cx="11067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4"/>
          <p:cNvSpPr/>
          <p:nvPr/>
        </p:nvSpPr>
        <p:spPr>
          <a:xfrm>
            <a:off x="2389599" y="2008733"/>
            <a:ext cx="11067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A100FF"/>
                </a:solidFill>
                <a:latin typeface="Arial"/>
                <a:ea typeface="Arial"/>
                <a:cs typeface="Arial"/>
                <a:sym typeface="Arial"/>
              </a:rPr>
              <a:t>Next.js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4"/>
          <p:cNvSpPr/>
          <p:nvPr/>
        </p:nvSpPr>
        <p:spPr>
          <a:xfrm>
            <a:off x="3698075" y="1853278"/>
            <a:ext cx="1212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A100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4"/>
          <p:cNvSpPr/>
          <p:nvPr/>
        </p:nvSpPr>
        <p:spPr>
          <a:xfrm>
            <a:off x="3893046" y="1412081"/>
            <a:ext cx="1357800" cy="948900"/>
          </a:xfrm>
          <a:prstGeom prst="roundRect">
            <a:avLst>
              <a:gd fmla="val 5353" name="adj"/>
            </a:avLst>
          </a:prstGeom>
          <a:solidFill>
            <a:srgbClr val="F8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3" name="Google Shape;343;p24"/>
          <p:cNvCxnSpPr/>
          <p:nvPr/>
        </p:nvCxnSpPr>
        <p:spPr>
          <a:xfrm>
            <a:off x="3893046" y="1431131"/>
            <a:ext cx="1357800" cy="0"/>
          </a:xfrm>
          <a:prstGeom prst="straightConnector1">
            <a:avLst/>
          </a:prstGeom>
          <a:noFill/>
          <a:ln cap="flat" cmpd="sng" w="38100">
            <a:solidFill>
              <a:srgbClr val="A100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4" name="Google Shape;344;p24"/>
          <p:cNvCxnSpPr/>
          <p:nvPr/>
        </p:nvCxnSpPr>
        <p:spPr>
          <a:xfrm>
            <a:off x="5246191" y="1412081"/>
            <a:ext cx="0" cy="94890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5" name="Google Shape;345;p24"/>
          <p:cNvCxnSpPr/>
          <p:nvPr/>
        </p:nvCxnSpPr>
        <p:spPr>
          <a:xfrm>
            <a:off x="3893046" y="2356247"/>
            <a:ext cx="13578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6" name="Google Shape;346;p24"/>
          <p:cNvCxnSpPr/>
          <p:nvPr/>
        </p:nvCxnSpPr>
        <p:spPr>
          <a:xfrm>
            <a:off x="3897809" y="1412081"/>
            <a:ext cx="0" cy="94890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7" name="Google Shape;347;p24"/>
          <p:cNvSpPr/>
          <p:nvPr/>
        </p:nvSpPr>
        <p:spPr>
          <a:xfrm>
            <a:off x="4018672" y="1716732"/>
            <a:ext cx="11067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4"/>
          <p:cNvSpPr/>
          <p:nvPr/>
        </p:nvSpPr>
        <p:spPr>
          <a:xfrm>
            <a:off x="4018672" y="2008733"/>
            <a:ext cx="11067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A100FF"/>
                </a:solidFill>
                <a:latin typeface="Arial"/>
                <a:ea typeface="Arial"/>
                <a:cs typeface="Arial"/>
                <a:sym typeface="Arial"/>
              </a:rPr>
              <a:t>Vercel Routes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4"/>
          <p:cNvSpPr/>
          <p:nvPr/>
        </p:nvSpPr>
        <p:spPr>
          <a:xfrm>
            <a:off x="5327150" y="1872174"/>
            <a:ext cx="1212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A100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4"/>
          <p:cNvSpPr/>
          <p:nvPr/>
        </p:nvSpPr>
        <p:spPr>
          <a:xfrm>
            <a:off x="5522119" y="1412081"/>
            <a:ext cx="1357800" cy="948900"/>
          </a:xfrm>
          <a:prstGeom prst="roundRect">
            <a:avLst>
              <a:gd fmla="val 5353" name="adj"/>
            </a:avLst>
          </a:prstGeom>
          <a:solidFill>
            <a:srgbClr val="F8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1" name="Google Shape;351;p24"/>
          <p:cNvCxnSpPr/>
          <p:nvPr/>
        </p:nvCxnSpPr>
        <p:spPr>
          <a:xfrm>
            <a:off x="5522119" y="1431131"/>
            <a:ext cx="1357800" cy="0"/>
          </a:xfrm>
          <a:prstGeom prst="straightConnector1">
            <a:avLst/>
          </a:prstGeom>
          <a:noFill/>
          <a:ln cap="flat" cmpd="sng" w="38100">
            <a:solidFill>
              <a:srgbClr val="00BA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2" name="Google Shape;352;p24"/>
          <p:cNvCxnSpPr/>
          <p:nvPr/>
        </p:nvCxnSpPr>
        <p:spPr>
          <a:xfrm>
            <a:off x="6875264" y="1412081"/>
            <a:ext cx="0" cy="94890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3" name="Google Shape;353;p24"/>
          <p:cNvCxnSpPr/>
          <p:nvPr/>
        </p:nvCxnSpPr>
        <p:spPr>
          <a:xfrm>
            <a:off x="5522119" y="2356247"/>
            <a:ext cx="13578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4" name="Google Shape;354;p24"/>
          <p:cNvCxnSpPr/>
          <p:nvPr/>
        </p:nvCxnSpPr>
        <p:spPr>
          <a:xfrm>
            <a:off x="5526881" y="1412081"/>
            <a:ext cx="0" cy="94890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5" name="Google Shape;355;p24"/>
          <p:cNvSpPr/>
          <p:nvPr/>
        </p:nvSpPr>
        <p:spPr>
          <a:xfrm>
            <a:off x="5647745" y="1716732"/>
            <a:ext cx="11067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4"/>
          <p:cNvSpPr/>
          <p:nvPr/>
        </p:nvSpPr>
        <p:spPr>
          <a:xfrm>
            <a:off x="5647745" y="2008733"/>
            <a:ext cx="11067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A100FF"/>
                </a:solidFill>
                <a:latin typeface="Arial"/>
                <a:ea typeface="Arial"/>
                <a:cs typeface="Arial"/>
                <a:sym typeface="Arial"/>
              </a:rPr>
              <a:t>Supabase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4"/>
          <p:cNvSpPr/>
          <p:nvPr/>
        </p:nvSpPr>
        <p:spPr>
          <a:xfrm>
            <a:off x="6956225" y="1891379"/>
            <a:ext cx="121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A100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4"/>
          <p:cNvSpPr/>
          <p:nvPr/>
        </p:nvSpPr>
        <p:spPr>
          <a:xfrm>
            <a:off x="7151191" y="1412081"/>
            <a:ext cx="1357800" cy="948900"/>
          </a:xfrm>
          <a:prstGeom prst="roundRect">
            <a:avLst>
              <a:gd fmla="val 5353" name="adj"/>
            </a:avLst>
          </a:prstGeom>
          <a:solidFill>
            <a:srgbClr val="F8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9" name="Google Shape;359;p24"/>
          <p:cNvCxnSpPr/>
          <p:nvPr/>
        </p:nvCxnSpPr>
        <p:spPr>
          <a:xfrm>
            <a:off x="7151191" y="1431131"/>
            <a:ext cx="1357800" cy="0"/>
          </a:xfrm>
          <a:prstGeom prst="straightConnector1">
            <a:avLst/>
          </a:prstGeom>
          <a:noFill/>
          <a:ln cap="flat" cmpd="sng" w="38100">
            <a:solidFill>
              <a:srgbClr val="A100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0" name="Google Shape;360;p24"/>
          <p:cNvCxnSpPr/>
          <p:nvPr/>
        </p:nvCxnSpPr>
        <p:spPr>
          <a:xfrm>
            <a:off x="8504337" y="1412081"/>
            <a:ext cx="0" cy="94890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1" name="Google Shape;361;p24"/>
          <p:cNvCxnSpPr/>
          <p:nvPr/>
        </p:nvCxnSpPr>
        <p:spPr>
          <a:xfrm>
            <a:off x="7151191" y="2356247"/>
            <a:ext cx="13578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2" name="Google Shape;362;p24"/>
          <p:cNvCxnSpPr/>
          <p:nvPr/>
        </p:nvCxnSpPr>
        <p:spPr>
          <a:xfrm>
            <a:off x="7155954" y="1412081"/>
            <a:ext cx="0" cy="94890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3" name="Google Shape;363;p24"/>
          <p:cNvSpPr/>
          <p:nvPr/>
        </p:nvSpPr>
        <p:spPr>
          <a:xfrm>
            <a:off x="7276817" y="1716732"/>
            <a:ext cx="11067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Engine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4"/>
          <p:cNvSpPr/>
          <p:nvPr/>
        </p:nvSpPr>
        <p:spPr>
          <a:xfrm>
            <a:off x="7276817" y="2008733"/>
            <a:ext cx="11067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A100FF"/>
                </a:solidFill>
                <a:latin typeface="Arial"/>
                <a:ea typeface="Arial"/>
                <a:cs typeface="Arial"/>
                <a:sym typeface="Arial"/>
              </a:rPr>
              <a:t>OpenAI GPT-4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4"/>
          <p:cNvSpPr/>
          <p:nvPr/>
        </p:nvSpPr>
        <p:spPr>
          <a:xfrm>
            <a:off x="2138274" y="3017759"/>
            <a:ext cx="1365000" cy="507900"/>
          </a:xfrm>
          <a:prstGeom prst="roundRect">
            <a:avLst>
              <a:gd fmla="val 7503" name="adj"/>
            </a:avLst>
          </a:prstGeom>
          <a:solidFill>
            <a:srgbClr val="F8F8FA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4"/>
          <p:cNvSpPr/>
          <p:nvPr/>
        </p:nvSpPr>
        <p:spPr>
          <a:xfrm>
            <a:off x="2252975" y="3170635"/>
            <a:ext cx="11139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A100FF"/>
                </a:solidFill>
                <a:latin typeface="Arial"/>
                <a:ea typeface="Arial"/>
                <a:cs typeface="Arial"/>
                <a:sym typeface="Arial"/>
              </a:rPr>
              <a:t>Authentication Flow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4"/>
          <p:cNvSpPr/>
          <p:nvPr/>
        </p:nvSpPr>
        <p:spPr>
          <a:xfrm>
            <a:off x="3624789" y="3017809"/>
            <a:ext cx="1632000" cy="507900"/>
          </a:xfrm>
          <a:prstGeom prst="roundRect">
            <a:avLst>
              <a:gd fmla="val 7503" name="adj"/>
            </a:avLst>
          </a:prstGeom>
          <a:solidFill>
            <a:srgbClr val="F8F8FA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4"/>
          <p:cNvSpPr/>
          <p:nvPr/>
        </p:nvSpPr>
        <p:spPr>
          <a:xfrm>
            <a:off x="3747739" y="3170560"/>
            <a:ext cx="13860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AFF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00BAFF"/>
                </a:solidFill>
                <a:latin typeface="Arial"/>
                <a:ea typeface="Arial"/>
                <a:cs typeface="Arial"/>
                <a:sym typeface="Arial"/>
              </a:rPr>
              <a:t>Content Generation Flow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4"/>
          <p:cNvSpPr/>
          <p:nvPr/>
        </p:nvSpPr>
        <p:spPr>
          <a:xfrm>
            <a:off x="5378327" y="3017809"/>
            <a:ext cx="1638300" cy="507900"/>
          </a:xfrm>
          <a:prstGeom prst="roundRect">
            <a:avLst>
              <a:gd fmla="val 7503" name="adj"/>
            </a:avLst>
          </a:prstGeom>
          <a:solidFill>
            <a:srgbClr val="F8F8FA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4"/>
          <p:cNvSpPr/>
          <p:nvPr/>
        </p:nvSpPr>
        <p:spPr>
          <a:xfrm>
            <a:off x="5608177" y="3170710"/>
            <a:ext cx="13929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A100FF"/>
                </a:solidFill>
                <a:latin typeface="Arial"/>
                <a:ea typeface="Arial"/>
                <a:cs typeface="Arial"/>
                <a:sym typeface="Arial"/>
              </a:rPr>
              <a:t>Review and Publish Flow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4"/>
          <p:cNvSpPr/>
          <p:nvPr/>
        </p:nvSpPr>
        <p:spPr>
          <a:xfrm>
            <a:off x="634901" y="4832449"/>
            <a:ext cx="1420500" cy="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NIT3003 | Victoria University | 2026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4"/>
          <p:cNvSpPr/>
          <p:nvPr/>
        </p:nvSpPr>
        <p:spPr>
          <a:xfrm>
            <a:off x="8713440" y="4832449"/>
            <a:ext cx="50700" cy="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3" name="Google Shape;373;p24"/>
          <p:cNvCxnSpPr>
            <a:stCxn id="365" idx="3"/>
            <a:endCxn id="367" idx="1"/>
          </p:cNvCxnSpPr>
          <p:nvPr/>
        </p:nvCxnSpPr>
        <p:spPr>
          <a:xfrm>
            <a:off x="3503274" y="3271709"/>
            <a:ext cx="121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" name="Google Shape;374;p24"/>
          <p:cNvCxnSpPr>
            <a:stCxn id="367" idx="3"/>
            <a:endCxn id="369" idx="1"/>
          </p:cNvCxnSpPr>
          <p:nvPr/>
        </p:nvCxnSpPr>
        <p:spPr>
          <a:xfrm>
            <a:off x="5256789" y="3271759"/>
            <a:ext cx="121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m0xu/1-projects/capstone/pptx-workspace/slides/bg-white.png" id="380" name="Google Shape;38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5"/>
          <p:cNvSpPr/>
          <p:nvPr/>
        </p:nvSpPr>
        <p:spPr>
          <a:xfrm>
            <a:off x="7262515" y="253901"/>
            <a:ext cx="1500485" cy="463451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5"/>
          <p:cNvSpPr/>
          <p:nvPr/>
        </p:nvSpPr>
        <p:spPr>
          <a:xfrm>
            <a:off x="7440216" y="418951"/>
            <a:ext cx="116798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DANIEL PALAZZOLO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5"/>
          <p:cNvSpPr/>
          <p:nvPr/>
        </p:nvSpPr>
        <p:spPr>
          <a:xfrm>
            <a:off x="634901" y="330101"/>
            <a:ext cx="803168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TECHNOLOGY STACK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5"/>
          <p:cNvSpPr/>
          <p:nvPr/>
        </p:nvSpPr>
        <p:spPr>
          <a:xfrm>
            <a:off x="634901" y="704701"/>
            <a:ext cx="803168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A100FF"/>
                </a:solidFill>
                <a:latin typeface="Arial"/>
                <a:ea typeface="Arial"/>
                <a:cs typeface="Arial"/>
                <a:sym typeface="Arial"/>
              </a:rPr>
              <a:t>One repo. One language. Zero servers.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m0xu/1-projects/capstone/pptx-workspace/slides/underline-purple.png" id="385" name="Google Shape;38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901" y="1155351"/>
            <a:ext cx="507950" cy="25301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25"/>
          <p:cNvSpPr/>
          <p:nvPr/>
        </p:nvSpPr>
        <p:spPr>
          <a:xfrm>
            <a:off x="634901" y="1148953"/>
            <a:ext cx="1873300" cy="1458367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7" name="Google Shape;387;p25"/>
          <p:cNvCxnSpPr/>
          <p:nvPr/>
        </p:nvCxnSpPr>
        <p:spPr>
          <a:xfrm>
            <a:off x="635001" y="1168003"/>
            <a:ext cx="1873200" cy="0"/>
          </a:xfrm>
          <a:prstGeom prst="straightConnector1">
            <a:avLst/>
          </a:prstGeom>
          <a:noFill/>
          <a:ln cap="flat" cmpd="sng" w="38100">
            <a:solidFill>
              <a:srgbClr val="A1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8" name="Google Shape;388;p25"/>
          <p:cNvSpPr/>
          <p:nvPr/>
        </p:nvSpPr>
        <p:spPr>
          <a:xfrm>
            <a:off x="761851" y="1402854"/>
            <a:ext cx="1651787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AFF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00BAFF"/>
                </a:solidFill>
                <a:latin typeface="Arial"/>
                <a:ea typeface="Arial"/>
                <a:cs typeface="Arial"/>
                <a:sym typeface="Arial"/>
              </a:rPr>
              <a:t>FRONTEND + BACKEND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5"/>
          <p:cNvSpPr/>
          <p:nvPr/>
        </p:nvSpPr>
        <p:spPr>
          <a:xfrm>
            <a:off x="761851" y="1586954"/>
            <a:ext cx="16517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Next.js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5"/>
          <p:cNvSpPr/>
          <p:nvPr/>
        </p:nvSpPr>
        <p:spPr>
          <a:xfrm>
            <a:off x="761851" y="1952030"/>
            <a:ext cx="1651787" cy="42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React UI and serverless API routes in a single project. SSR for performance.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5"/>
          <p:cNvSpPr/>
          <p:nvPr/>
        </p:nvSpPr>
        <p:spPr>
          <a:xfrm>
            <a:off x="2635151" y="1148953"/>
            <a:ext cx="1873448" cy="1458367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2" name="Google Shape;392;p25"/>
          <p:cNvCxnSpPr/>
          <p:nvPr/>
        </p:nvCxnSpPr>
        <p:spPr>
          <a:xfrm>
            <a:off x="2635151" y="1168003"/>
            <a:ext cx="1873448" cy="0"/>
          </a:xfrm>
          <a:prstGeom prst="straightConnector1">
            <a:avLst/>
          </a:prstGeom>
          <a:noFill/>
          <a:ln cap="flat" cmpd="sng" w="38100">
            <a:solidFill>
              <a:srgbClr val="A1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3" name="Google Shape;393;p25"/>
          <p:cNvSpPr/>
          <p:nvPr/>
        </p:nvSpPr>
        <p:spPr>
          <a:xfrm>
            <a:off x="2762101" y="1402854"/>
            <a:ext cx="1651939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AFF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00BAFF"/>
                </a:solidFill>
                <a:latin typeface="Arial"/>
                <a:ea typeface="Arial"/>
                <a:cs typeface="Arial"/>
                <a:sym typeface="Arial"/>
              </a:rPr>
              <a:t>DATABASE + AUTH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5"/>
          <p:cNvSpPr/>
          <p:nvPr/>
        </p:nvSpPr>
        <p:spPr>
          <a:xfrm>
            <a:off x="2762101" y="1586954"/>
            <a:ext cx="165193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Supabase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5"/>
          <p:cNvSpPr/>
          <p:nvPr/>
        </p:nvSpPr>
        <p:spPr>
          <a:xfrm>
            <a:off x="2762101" y="1952030"/>
            <a:ext cx="1651939" cy="42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Managed PostgreSQL with built-in auth and row-level security for multi-tenancy.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5"/>
          <p:cNvSpPr/>
          <p:nvPr/>
        </p:nvSpPr>
        <p:spPr>
          <a:xfrm>
            <a:off x="4635550" y="1148953"/>
            <a:ext cx="1873300" cy="1458367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7" name="Google Shape;397;p25"/>
          <p:cNvCxnSpPr/>
          <p:nvPr/>
        </p:nvCxnSpPr>
        <p:spPr>
          <a:xfrm>
            <a:off x="4635550" y="1168003"/>
            <a:ext cx="1873300" cy="0"/>
          </a:xfrm>
          <a:prstGeom prst="straightConnector1">
            <a:avLst/>
          </a:prstGeom>
          <a:noFill/>
          <a:ln cap="flat" cmpd="sng" w="38100">
            <a:solidFill>
              <a:srgbClr val="A1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8" name="Google Shape;398;p25"/>
          <p:cNvSpPr/>
          <p:nvPr/>
        </p:nvSpPr>
        <p:spPr>
          <a:xfrm>
            <a:off x="4762500" y="1402854"/>
            <a:ext cx="1651787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AFF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00BAFF"/>
                </a:solidFill>
                <a:latin typeface="Arial"/>
                <a:ea typeface="Arial"/>
                <a:cs typeface="Arial"/>
                <a:sym typeface="Arial"/>
              </a:rPr>
              <a:t>AI ENGINE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5"/>
          <p:cNvSpPr/>
          <p:nvPr/>
        </p:nvSpPr>
        <p:spPr>
          <a:xfrm>
            <a:off x="4762500" y="1586954"/>
            <a:ext cx="16517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API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5"/>
          <p:cNvSpPr/>
          <p:nvPr/>
        </p:nvSpPr>
        <p:spPr>
          <a:xfrm>
            <a:off x="4762500" y="1952030"/>
            <a:ext cx="1651787" cy="42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GPT-4 primary, GPT-3.5 fallback. Pay-per-use. Well-documented SDK.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5"/>
          <p:cNvSpPr/>
          <p:nvPr/>
        </p:nvSpPr>
        <p:spPr>
          <a:xfrm>
            <a:off x="6635800" y="1148953"/>
            <a:ext cx="1873300" cy="1458367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2" name="Google Shape;402;p25"/>
          <p:cNvCxnSpPr/>
          <p:nvPr/>
        </p:nvCxnSpPr>
        <p:spPr>
          <a:xfrm>
            <a:off x="6635800" y="1168003"/>
            <a:ext cx="1873300" cy="0"/>
          </a:xfrm>
          <a:prstGeom prst="straightConnector1">
            <a:avLst/>
          </a:prstGeom>
          <a:noFill/>
          <a:ln cap="flat" cmpd="sng" w="38100">
            <a:solidFill>
              <a:srgbClr val="A1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3" name="Google Shape;403;p25"/>
          <p:cNvSpPr/>
          <p:nvPr/>
        </p:nvSpPr>
        <p:spPr>
          <a:xfrm>
            <a:off x="6762750" y="1402854"/>
            <a:ext cx="1651787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AFF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00BAFF"/>
                </a:solidFill>
                <a:latin typeface="Arial"/>
                <a:ea typeface="Arial"/>
                <a:cs typeface="Arial"/>
                <a:sym typeface="Arial"/>
              </a:rPr>
              <a:t>DEPLOYMENT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5"/>
          <p:cNvSpPr/>
          <p:nvPr/>
        </p:nvSpPr>
        <p:spPr>
          <a:xfrm>
            <a:off x="6762750" y="1586954"/>
            <a:ext cx="16517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Vercel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5"/>
          <p:cNvSpPr/>
          <p:nvPr/>
        </p:nvSpPr>
        <p:spPr>
          <a:xfrm>
            <a:off x="6762750" y="1952030"/>
            <a:ext cx="1651787" cy="2845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Serverless, git-push CI/CD. Auto-scaling, zero infrastructure.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6" name="Google Shape;406;p25"/>
          <p:cNvCxnSpPr/>
          <p:nvPr/>
        </p:nvCxnSpPr>
        <p:spPr>
          <a:xfrm>
            <a:off x="635001" y="3159045"/>
            <a:ext cx="0" cy="514500"/>
          </a:xfrm>
          <a:prstGeom prst="straightConnector1">
            <a:avLst/>
          </a:prstGeom>
          <a:noFill/>
          <a:ln cap="flat" cmpd="sng" w="38100">
            <a:solidFill>
              <a:srgbClr val="00BA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7" name="Google Shape;407;p25"/>
          <p:cNvSpPr/>
          <p:nvPr/>
        </p:nvSpPr>
        <p:spPr>
          <a:xfrm>
            <a:off x="827651" y="3289520"/>
            <a:ext cx="77337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TypeScript everywhere</a:t>
            </a:r>
            <a:r>
              <a:rPr b="0" i="0" lang="en-GB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— single language across frontend, API routes, and database queries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5"/>
          <p:cNvSpPr/>
          <p:nvPr/>
        </p:nvSpPr>
        <p:spPr>
          <a:xfrm>
            <a:off x="634901" y="4832449"/>
            <a:ext cx="1420588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NIT3003 | Victoria University | 2026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5"/>
          <p:cNvSpPr/>
          <p:nvPr/>
        </p:nvSpPr>
        <p:spPr>
          <a:xfrm>
            <a:off x="8664029" y="4832449"/>
            <a:ext cx="100950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m0xu/1-projects/capstone/pptx-workspace/slides/bg-purple-texture.png" id="415" name="Google Shape;41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13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26"/>
          <p:cNvSpPr/>
          <p:nvPr/>
        </p:nvSpPr>
        <p:spPr>
          <a:xfrm>
            <a:off x="7262515" y="253901"/>
            <a:ext cx="1500485" cy="463451"/>
          </a:xfrm>
          <a:prstGeom prst="rect">
            <a:avLst/>
          </a:prstGeom>
          <a:solidFill>
            <a:srgbClr val="00BA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6"/>
          <p:cNvSpPr/>
          <p:nvPr/>
        </p:nvSpPr>
        <p:spPr>
          <a:xfrm>
            <a:off x="7440216" y="418951"/>
            <a:ext cx="116798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DANIEL PALAZZOLO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6"/>
          <p:cNvSpPr/>
          <p:nvPr/>
        </p:nvSpPr>
        <p:spPr>
          <a:xfrm>
            <a:off x="507950" y="330101"/>
            <a:ext cx="8290661" cy="584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CORE ALGORITHM: </a:t>
            </a:r>
            <a:r>
              <a:rPr b="1" i="0" lang="en-GB" sz="2000" u="none" cap="none" strike="noStrike">
                <a:solidFill>
                  <a:srgbClr val="00BAFF"/>
                </a:solidFill>
                <a:latin typeface="Arial"/>
                <a:ea typeface="Arial"/>
                <a:cs typeface="Arial"/>
                <a:sym typeface="Arial"/>
              </a:rPr>
              <a:t>7-PHASE CONTENT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BAFF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00BAFF"/>
                </a:solidFill>
                <a:latin typeface="Arial"/>
                <a:ea typeface="Arial"/>
                <a:cs typeface="Arial"/>
                <a:sym typeface="Arial"/>
              </a:rPr>
              <a:t>GENERATION PIPELINE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6"/>
          <p:cNvSpPr/>
          <p:nvPr/>
        </p:nvSpPr>
        <p:spPr>
          <a:xfrm>
            <a:off x="507950" y="965150"/>
            <a:ext cx="8290661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Not a pass-through to ChatGPT — a structured engineering pipeline with fault tolerance and quality gates.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6"/>
          <p:cNvSpPr/>
          <p:nvPr/>
        </p:nvSpPr>
        <p:spPr>
          <a:xfrm>
            <a:off x="370150" y="1245400"/>
            <a:ext cx="1167900" cy="660300"/>
          </a:xfrm>
          <a:prstGeom prst="roundRect">
            <a:avLst>
              <a:gd fmla="val 5771" name="adj"/>
            </a:avLst>
          </a:prstGeom>
          <a:solidFill>
            <a:srgbClr val="A1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6"/>
          <p:cNvSpPr/>
          <p:nvPr/>
        </p:nvSpPr>
        <p:spPr>
          <a:xfrm>
            <a:off x="418416" y="1415207"/>
            <a:ext cx="880800" cy="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AFF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00BAFF"/>
                </a:solidFill>
                <a:latin typeface="Arial"/>
                <a:ea typeface="Arial"/>
                <a:cs typeface="Arial"/>
                <a:sym typeface="Arial"/>
              </a:rPr>
              <a:t>PHASE 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6"/>
          <p:cNvSpPr/>
          <p:nvPr/>
        </p:nvSpPr>
        <p:spPr>
          <a:xfrm>
            <a:off x="472616" y="1599307"/>
            <a:ext cx="8808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Auth &amp; Rate Limit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6"/>
          <p:cNvSpPr/>
          <p:nvPr/>
        </p:nvSpPr>
        <p:spPr>
          <a:xfrm>
            <a:off x="1628375" y="1507900"/>
            <a:ext cx="942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AFF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00BA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6"/>
          <p:cNvSpPr/>
          <p:nvPr/>
        </p:nvSpPr>
        <p:spPr>
          <a:xfrm>
            <a:off x="1758702" y="1240631"/>
            <a:ext cx="1085552" cy="660202"/>
          </a:xfrm>
          <a:prstGeom prst="roundRect">
            <a:avLst>
              <a:gd fmla="val 5771" name="adj"/>
            </a:avLst>
          </a:prstGeom>
          <a:solidFill>
            <a:srgbClr val="A1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6"/>
          <p:cNvSpPr/>
          <p:nvPr/>
        </p:nvSpPr>
        <p:spPr>
          <a:xfrm>
            <a:off x="1861093" y="1415207"/>
            <a:ext cx="880771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AFF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00BAFF"/>
                </a:solidFill>
                <a:latin typeface="Arial"/>
                <a:ea typeface="Arial"/>
                <a:cs typeface="Arial"/>
                <a:sym typeface="Arial"/>
              </a:rPr>
              <a:t>PHASE 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6"/>
          <p:cNvSpPr/>
          <p:nvPr/>
        </p:nvSpPr>
        <p:spPr>
          <a:xfrm>
            <a:off x="1861093" y="1599307"/>
            <a:ext cx="880771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Profile Retrieval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6"/>
          <p:cNvSpPr/>
          <p:nvPr/>
        </p:nvSpPr>
        <p:spPr>
          <a:xfrm>
            <a:off x="2882354" y="1485007"/>
            <a:ext cx="9077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AFF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00BA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6"/>
          <p:cNvSpPr/>
          <p:nvPr/>
        </p:nvSpPr>
        <p:spPr>
          <a:xfrm>
            <a:off x="3009454" y="1240631"/>
            <a:ext cx="1085552" cy="660202"/>
          </a:xfrm>
          <a:prstGeom prst="roundRect">
            <a:avLst>
              <a:gd fmla="val 5771" name="adj"/>
            </a:avLst>
          </a:prstGeom>
          <a:solidFill>
            <a:srgbClr val="A1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6"/>
          <p:cNvSpPr/>
          <p:nvPr/>
        </p:nvSpPr>
        <p:spPr>
          <a:xfrm>
            <a:off x="3111844" y="1415207"/>
            <a:ext cx="880771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AFF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00BAFF"/>
                </a:solidFill>
                <a:latin typeface="Arial"/>
                <a:ea typeface="Arial"/>
                <a:cs typeface="Arial"/>
                <a:sym typeface="Arial"/>
              </a:rPr>
              <a:t>PHASE 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6"/>
          <p:cNvSpPr/>
          <p:nvPr/>
        </p:nvSpPr>
        <p:spPr>
          <a:xfrm>
            <a:off x="3111844" y="1599307"/>
            <a:ext cx="880771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Prompt Assembly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6"/>
          <p:cNvSpPr/>
          <p:nvPr/>
        </p:nvSpPr>
        <p:spPr>
          <a:xfrm>
            <a:off x="4133106" y="1485007"/>
            <a:ext cx="9077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AFF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00BA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6"/>
          <p:cNvSpPr/>
          <p:nvPr/>
        </p:nvSpPr>
        <p:spPr>
          <a:xfrm>
            <a:off x="4260205" y="1240631"/>
            <a:ext cx="1085552" cy="660202"/>
          </a:xfrm>
          <a:prstGeom prst="roundRect">
            <a:avLst>
              <a:gd fmla="val 5771" name="adj"/>
            </a:avLst>
          </a:prstGeom>
          <a:solidFill>
            <a:srgbClr val="A1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6"/>
          <p:cNvSpPr/>
          <p:nvPr/>
        </p:nvSpPr>
        <p:spPr>
          <a:xfrm>
            <a:off x="4362596" y="1415207"/>
            <a:ext cx="880771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AFF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00BAFF"/>
                </a:solidFill>
                <a:latin typeface="Arial"/>
                <a:ea typeface="Arial"/>
                <a:cs typeface="Arial"/>
                <a:sym typeface="Arial"/>
              </a:rPr>
              <a:t>PHASE 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6"/>
          <p:cNvSpPr/>
          <p:nvPr/>
        </p:nvSpPr>
        <p:spPr>
          <a:xfrm>
            <a:off x="4362596" y="1599307"/>
            <a:ext cx="880771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API Call + Retry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6"/>
          <p:cNvSpPr/>
          <p:nvPr/>
        </p:nvSpPr>
        <p:spPr>
          <a:xfrm>
            <a:off x="5383857" y="1485007"/>
            <a:ext cx="9077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AFF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00BA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6"/>
          <p:cNvSpPr/>
          <p:nvPr/>
        </p:nvSpPr>
        <p:spPr>
          <a:xfrm>
            <a:off x="5510957" y="1240631"/>
            <a:ext cx="1085552" cy="660202"/>
          </a:xfrm>
          <a:prstGeom prst="roundRect">
            <a:avLst>
              <a:gd fmla="val 5771" name="adj"/>
            </a:avLst>
          </a:prstGeom>
          <a:solidFill>
            <a:srgbClr val="A1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6"/>
          <p:cNvSpPr/>
          <p:nvPr/>
        </p:nvSpPr>
        <p:spPr>
          <a:xfrm>
            <a:off x="5613347" y="1415207"/>
            <a:ext cx="880771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AFF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00BAFF"/>
                </a:solidFill>
                <a:latin typeface="Arial"/>
                <a:ea typeface="Arial"/>
                <a:cs typeface="Arial"/>
                <a:sym typeface="Arial"/>
              </a:rPr>
              <a:t>PHASE 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6"/>
          <p:cNvSpPr/>
          <p:nvPr/>
        </p:nvSpPr>
        <p:spPr>
          <a:xfrm>
            <a:off x="5613347" y="1599307"/>
            <a:ext cx="880771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Quality Eval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6"/>
          <p:cNvSpPr/>
          <p:nvPr/>
        </p:nvSpPr>
        <p:spPr>
          <a:xfrm>
            <a:off x="6634609" y="1485007"/>
            <a:ext cx="9077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AFF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00BA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6"/>
          <p:cNvSpPr/>
          <p:nvPr/>
        </p:nvSpPr>
        <p:spPr>
          <a:xfrm>
            <a:off x="6761708" y="1240631"/>
            <a:ext cx="1085552" cy="660202"/>
          </a:xfrm>
          <a:prstGeom prst="roundRect">
            <a:avLst>
              <a:gd fmla="val 5771" name="adj"/>
            </a:avLst>
          </a:prstGeom>
          <a:solidFill>
            <a:srgbClr val="A1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6"/>
          <p:cNvSpPr/>
          <p:nvPr/>
        </p:nvSpPr>
        <p:spPr>
          <a:xfrm>
            <a:off x="6864099" y="1415207"/>
            <a:ext cx="880771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AFF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00BAFF"/>
                </a:solidFill>
                <a:latin typeface="Arial"/>
                <a:ea typeface="Arial"/>
                <a:cs typeface="Arial"/>
                <a:sym typeface="Arial"/>
              </a:rPr>
              <a:t>PHASE 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6"/>
          <p:cNvSpPr/>
          <p:nvPr/>
        </p:nvSpPr>
        <p:spPr>
          <a:xfrm>
            <a:off x="6864099" y="1599307"/>
            <a:ext cx="880771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Auto-Regen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6"/>
          <p:cNvSpPr/>
          <p:nvPr/>
        </p:nvSpPr>
        <p:spPr>
          <a:xfrm>
            <a:off x="7885361" y="1485007"/>
            <a:ext cx="9077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AFF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00BA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6"/>
          <p:cNvSpPr/>
          <p:nvPr/>
        </p:nvSpPr>
        <p:spPr>
          <a:xfrm>
            <a:off x="8012460" y="1240631"/>
            <a:ext cx="1085552" cy="660202"/>
          </a:xfrm>
          <a:prstGeom prst="roundRect">
            <a:avLst>
              <a:gd fmla="val 5771" name="adj"/>
            </a:avLst>
          </a:prstGeom>
          <a:solidFill>
            <a:srgbClr val="A1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6"/>
          <p:cNvSpPr/>
          <p:nvPr/>
        </p:nvSpPr>
        <p:spPr>
          <a:xfrm>
            <a:off x="8114851" y="1415207"/>
            <a:ext cx="880771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AFF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00BAFF"/>
                </a:solidFill>
                <a:latin typeface="Arial"/>
                <a:ea typeface="Arial"/>
                <a:cs typeface="Arial"/>
                <a:sym typeface="Arial"/>
              </a:rPr>
              <a:t>PHASE 7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6"/>
          <p:cNvSpPr/>
          <p:nvPr/>
        </p:nvSpPr>
        <p:spPr>
          <a:xfrm>
            <a:off x="8114851" y="1599307"/>
            <a:ext cx="880771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Store &amp; Return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6"/>
          <p:cNvSpPr/>
          <p:nvPr/>
        </p:nvSpPr>
        <p:spPr>
          <a:xfrm>
            <a:off x="507950" y="2739183"/>
            <a:ext cx="2641800" cy="10677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8" name="Google Shape;448;p26"/>
          <p:cNvCxnSpPr/>
          <p:nvPr/>
        </p:nvCxnSpPr>
        <p:spPr>
          <a:xfrm>
            <a:off x="507950" y="2711533"/>
            <a:ext cx="2641800" cy="0"/>
          </a:xfrm>
          <a:prstGeom prst="straightConnector1">
            <a:avLst/>
          </a:prstGeom>
          <a:noFill/>
          <a:ln cap="flat" cmpd="sng" w="19050">
            <a:solidFill>
              <a:srgbClr val="00BA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9" name="Google Shape;449;p26"/>
          <p:cNvSpPr/>
          <p:nvPr/>
        </p:nvSpPr>
        <p:spPr>
          <a:xfrm>
            <a:off x="609451" y="2816285"/>
            <a:ext cx="24876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AFF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00BAFF"/>
                </a:solidFill>
                <a:latin typeface="Arial"/>
                <a:ea typeface="Arial"/>
                <a:cs typeface="Arial"/>
                <a:sym typeface="Arial"/>
              </a:rPr>
              <a:t>PROMPT ENGINEERING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6"/>
          <p:cNvSpPr/>
          <p:nvPr/>
        </p:nvSpPr>
        <p:spPr>
          <a:xfrm>
            <a:off x="585114" y="3095486"/>
            <a:ext cx="24876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System instruction sets role, tone, audience. User prompt combines topic, keywords, and content-type constraints.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6"/>
          <p:cNvSpPr/>
          <p:nvPr/>
        </p:nvSpPr>
        <p:spPr>
          <a:xfrm>
            <a:off x="3251200" y="2739183"/>
            <a:ext cx="2641800" cy="10677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2" name="Google Shape;452;p26"/>
          <p:cNvCxnSpPr/>
          <p:nvPr/>
        </p:nvCxnSpPr>
        <p:spPr>
          <a:xfrm>
            <a:off x="3251150" y="2711533"/>
            <a:ext cx="2641800" cy="0"/>
          </a:xfrm>
          <a:prstGeom prst="straightConnector1">
            <a:avLst/>
          </a:prstGeom>
          <a:noFill/>
          <a:ln cap="flat" cmpd="sng" w="19050">
            <a:solidFill>
              <a:srgbClr val="00BA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3" name="Google Shape;453;p26"/>
          <p:cNvSpPr/>
          <p:nvPr/>
        </p:nvSpPr>
        <p:spPr>
          <a:xfrm>
            <a:off x="3328314" y="2816285"/>
            <a:ext cx="24876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AFF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00BAFF"/>
                </a:solidFill>
                <a:latin typeface="Arial"/>
                <a:ea typeface="Arial"/>
                <a:cs typeface="Arial"/>
                <a:sym typeface="Arial"/>
              </a:rPr>
              <a:t>FAULT TOLERANCE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6"/>
          <p:cNvSpPr/>
          <p:nvPr/>
        </p:nvSpPr>
        <p:spPr>
          <a:xfrm>
            <a:off x="3328314" y="3095486"/>
            <a:ext cx="24876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 retries on GPT-4 timeout, then automatic fallback to GPT-3.5 Turbo. User input preserved on failure.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6"/>
          <p:cNvSpPr/>
          <p:nvPr/>
        </p:nvSpPr>
        <p:spPr>
          <a:xfrm>
            <a:off x="5983625" y="2739183"/>
            <a:ext cx="2641800" cy="10677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6" name="Google Shape;456;p26"/>
          <p:cNvCxnSpPr/>
          <p:nvPr/>
        </p:nvCxnSpPr>
        <p:spPr>
          <a:xfrm>
            <a:off x="5994375" y="2711533"/>
            <a:ext cx="2641800" cy="0"/>
          </a:xfrm>
          <a:prstGeom prst="straightConnector1">
            <a:avLst/>
          </a:prstGeom>
          <a:noFill/>
          <a:ln cap="flat" cmpd="sng" w="19050">
            <a:solidFill>
              <a:srgbClr val="00BA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7" name="Google Shape;457;p26"/>
          <p:cNvSpPr/>
          <p:nvPr/>
        </p:nvSpPr>
        <p:spPr>
          <a:xfrm>
            <a:off x="6047151" y="2816285"/>
            <a:ext cx="24876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AFF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00BAFF"/>
                </a:solidFill>
                <a:latin typeface="Arial"/>
                <a:ea typeface="Arial"/>
                <a:cs typeface="Arial"/>
                <a:sym typeface="Arial"/>
              </a:rPr>
              <a:t>QUALITY GATE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6"/>
          <p:cNvSpPr/>
          <p:nvPr/>
        </p:nvSpPr>
        <p:spPr>
          <a:xfrm>
            <a:off x="6071476" y="3095549"/>
            <a:ext cx="24876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If quality score &lt; 0.6, system auto-regenerates with adjusted prompt citing specific deficiencies.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6"/>
          <p:cNvSpPr/>
          <p:nvPr/>
        </p:nvSpPr>
        <p:spPr>
          <a:xfrm>
            <a:off x="634901" y="4832449"/>
            <a:ext cx="1420588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NIT3003 | Victoria University | 2026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6"/>
          <p:cNvSpPr/>
          <p:nvPr/>
        </p:nvSpPr>
        <p:spPr>
          <a:xfrm>
            <a:off x="8670727" y="4832449"/>
            <a:ext cx="94119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m0xu/1-projects/capstone/pptx-workspace/slides/bg-white.png" id="466" name="Google Shape;46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847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27"/>
          <p:cNvSpPr/>
          <p:nvPr/>
        </p:nvSpPr>
        <p:spPr>
          <a:xfrm>
            <a:off x="7377650" y="116100"/>
            <a:ext cx="1425000" cy="399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7"/>
          <p:cNvSpPr/>
          <p:nvPr/>
        </p:nvSpPr>
        <p:spPr>
          <a:xfrm>
            <a:off x="7537104" y="248851"/>
            <a:ext cx="11679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DANIEL PALAZZOLO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7"/>
          <p:cNvSpPr/>
          <p:nvPr/>
        </p:nvSpPr>
        <p:spPr>
          <a:xfrm>
            <a:off x="634901" y="381000"/>
            <a:ext cx="3627069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QUALITY EVALUATION ENGINE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7"/>
          <p:cNvSpPr/>
          <p:nvPr/>
        </p:nvSpPr>
        <p:spPr>
          <a:xfrm>
            <a:off x="4387338" y="1239525"/>
            <a:ext cx="36270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A100FF"/>
                </a:solidFill>
                <a:latin typeface="Arial"/>
                <a:ea typeface="Arial"/>
                <a:cs typeface="Arial"/>
                <a:sym typeface="Arial"/>
              </a:rPr>
              <a:t>5 weighted metrics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m0xu/1-projects/capstone/pptx-workspace/slides/underline-purple.png" id="471" name="Google Shape;47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901" y="1400175"/>
            <a:ext cx="507950" cy="25301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27"/>
          <p:cNvSpPr/>
          <p:nvPr/>
        </p:nvSpPr>
        <p:spPr>
          <a:xfrm>
            <a:off x="634901" y="1511052"/>
            <a:ext cx="3627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Every draft is scored before the user sees it. The heaviest weight goes to historical user ratings.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7"/>
          <p:cNvSpPr/>
          <p:nvPr/>
        </p:nvSpPr>
        <p:spPr>
          <a:xfrm>
            <a:off x="634901" y="1916609"/>
            <a:ext cx="3555950" cy="1441103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4" name="Google Shape;474;p27"/>
          <p:cNvCxnSpPr/>
          <p:nvPr/>
        </p:nvCxnSpPr>
        <p:spPr>
          <a:xfrm>
            <a:off x="653951" y="1916609"/>
            <a:ext cx="0" cy="1441103"/>
          </a:xfrm>
          <a:prstGeom prst="straightConnector1">
            <a:avLst/>
          </a:prstGeom>
          <a:noFill/>
          <a:ln cap="flat" cmpd="sng" w="38100">
            <a:solidFill>
              <a:srgbClr val="A1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5" name="Google Shape;475;p27"/>
          <p:cNvSpPr/>
          <p:nvPr/>
        </p:nvSpPr>
        <p:spPr>
          <a:xfrm>
            <a:off x="825401" y="2170509"/>
            <a:ext cx="3277311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QUALITY THRESHOLD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7"/>
          <p:cNvSpPr/>
          <p:nvPr/>
        </p:nvSpPr>
        <p:spPr>
          <a:xfrm>
            <a:off x="825401" y="2386310"/>
            <a:ext cx="327731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rgbClr val="A100FF"/>
                </a:solidFill>
                <a:latin typeface="Arial"/>
                <a:ea typeface="Arial"/>
                <a:cs typeface="Arial"/>
                <a:sym typeface="Arial"/>
              </a:rPr>
              <a:t>0.60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7"/>
          <p:cNvSpPr/>
          <p:nvPr/>
        </p:nvSpPr>
        <p:spPr>
          <a:xfrm>
            <a:off x="825401" y="2989511"/>
            <a:ext cx="3277311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Below this triggers auto-regeneration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7"/>
          <p:cNvSpPr/>
          <p:nvPr/>
        </p:nvSpPr>
        <p:spPr>
          <a:xfrm>
            <a:off x="4444752" y="1615614"/>
            <a:ext cx="14247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User Satisfaction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7"/>
          <p:cNvSpPr/>
          <p:nvPr/>
        </p:nvSpPr>
        <p:spPr>
          <a:xfrm>
            <a:off x="5943154" y="655439"/>
            <a:ext cx="1777901" cy="203150"/>
          </a:xfrm>
          <a:prstGeom prst="roundRect">
            <a:avLst>
              <a:gd fmla="val 12503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7"/>
          <p:cNvSpPr/>
          <p:nvPr/>
        </p:nvSpPr>
        <p:spPr>
          <a:xfrm>
            <a:off x="5869454" y="1591964"/>
            <a:ext cx="1777800" cy="203100"/>
          </a:xfrm>
          <a:prstGeom prst="roundRect">
            <a:avLst>
              <a:gd fmla="val 12503" name="adj"/>
            </a:avLst>
          </a:prstGeom>
          <a:solidFill>
            <a:srgbClr val="A1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7"/>
          <p:cNvSpPr/>
          <p:nvPr/>
        </p:nvSpPr>
        <p:spPr>
          <a:xfrm>
            <a:off x="7847248" y="1615376"/>
            <a:ext cx="388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35%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7"/>
          <p:cNvSpPr/>
          <p:nvPr/>
        </p:nvSpPr>
        <p:spPr>
          <a:xfrm>
            <a:off x="4444752" y="2039540"/>
            <a:ext cx="14247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Tone Alignment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7"/>
          <p:cNvSpPr/>
          <p:nvPr/>
        </p:nvSpPr>
        <p:spPr>
          <a:xfrm>
            <a:off x="5943154" y="1179165"/>
            <a:ext cx="1777901" cy="203150"/>
          </a:xfrm>
          <a:prstGeom prst="roundRect">
            <a:avLst>
              <a:gd fmla="val 12503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7"/>
          <p:cNvSpPr/>
          <p:nvPr/>
        </p:nvSpPr>
        <p:spPr>
          <a:xfrm>
            <a:off x="5915466" y="2004715"/>
            <a:ext cx="1013400" cy="203100"/>
          </a:xfrm>
          <a:prstGeom prst="roundRect">
            <a:avLst>
              <a:gd fmla="val 12503" name="adj"/>
            </a:avLst>
          </a:prstGeom>
          <a:solidFill>
            <a:srgbClr val="00BA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7"/>
          <p:cNvSpPr/>
          <p:nvPr/>
        </p:nvSpPr>
        <p:spPr>
          <a:xfrm>
            <a:off x="7847260" y="2034865"/>
            <a:ext cx="388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7"/>
          <p:cNvSpPr/>
          <p:nvPr/>
        </p:nvSpPr>
        <p:spPr>
          <a:xfrm>
            <a:off x="4444752" y="2429766"/>
            <a:ext cx="14247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Keyword Integration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7"/>
          <p:cNvSpPr/>
          <p:nvPr/>
        </p:nvSpPr>
        <p:spPr>
          <a:xfrm>
            <a:off x="825404" y="3600541"/>
            <a:ext cx="1777800" cy="203100"/>
          </a:xfrm>
          <a:prstGeom prst="roundRect">
            <a:avLst>
              <a:gd fmla="val 12503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7"/>
          <p:cNvSpPr/>
          <p:nvPr/>
        </p:nvSpPr>
        <p:spPr>
          <a:xfrm>
            <a:off x="5915454" y="2394941"/>
            <a:ext cx="1013400" cy="203100"/>
          </a:xfrm>
          <a:prstGeom prst="roundRect">
            <a:avLst>
              <a:gd fmla="val 12503" name="adj"/>
            </a:avLst>
          </a:prstGeom>
          <a:solidFill>
            <a:srgbClr val="A1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7"/>
          <p:cNvSpPr/>
          <p:nvPr/>
        </p:nvSpPr>
        <p:spPr>
          <a:xfrm>
            <a:off x="7847248" y="2425092"/>
            <a:ext cx="388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7"/>
          <p:cNvSpPr/>
          <p:nvPr/>
        </p:nvSpPr>
        <p:spPr>
          <a:xfrm>
            <a:off x="4444752" y="2820142"/>
            <a:ext cx="14247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Structural Compliance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7"/>
          <p:cNvSpPr/>
          <p:nvPr/>
        </p:nvSpPr>
        <p:spPr>
          <a:xfrm>
            <a:off x="5915454" y="2798156"/>
            <a:ext cx="764400" cy="203100"/>
          </a:xfrm>
          <a:prstGeom prst="roundRect">
            <a:avLst>
              <a:gd fmla="val 12503" name="adj"/>
            </a:avLst>
          </a:prstGeom>
          <a:solidFill>
            <a:srgbClr val="00BA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7"/>
          <p:cNvSpPr/>
          <p:nvPr/>
        </p:nvSpPr>
        <p:spPr>
          <a:xfrm>
            <a:off x="7847248" y="2858455"/>
            <a:ext cx="388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7"/>
          <p:cNvSpPr/>
          <p:nvPr/>
        </p:nvSpPr>
        <p:spPr>
          <a:xfrm>
            <a:off x="4444752" y="3243918"/>
            <a:ext cx="14247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Readability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7"/>
          <p:cNvSpPr/>
          <p:nvPr/>
        </p:nvSpPr>
        <p:spPr>
          <a:xfrm>
            <a:off x="5943154" y="3174319"/>
            <a:ext cx="515400" cy="203100"/>
          </a:xfrm>
          <a:prstGeom prst="roundRect">
            <a:avLst>
              <a:gd fmla="val 12503" name="adj"/>
            </a:avLst>
          </a:prstGeom>
          <a:solidFill>
            <a:srgbClr val="A1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7"/>
          <p:cNvSpPr/>
          <p:nvPr/>
        </p:nvSpPr>
        <p:spPr>
          <a:xfrm>
            <a:off x="7847260" y="3204481"/>
            <a:ext cx="388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6" name="Google Shape;496;p27"/>
          <p:cNvCxnSpPr/>
          <p:nvPr/>
        </p:nvCxnSpPr>
        <p:spPr>
          <a:xfrm>
            <a:off x="4444752" y="3690356"/>
            <a:ext cx="0" cy="690600"/>
          </a:xfrm>
          <a:prstGeom prst="straightConnector1">
            <a:avLst/>
          </a:prstGeom>
          <a:noFill/>
          <a:ln cap="flat" cmpd="sng" w="38100">
            <a:solidFill>
              <a:srgbClr val="00BA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7" name="Google Shape;497;p27"/>
          <p:cNvSpPr/>
          <p:nvPr/>
        </p:nvSpPr>
        <p:spPr>
          <a:xfrm>
            <a:off x="4591327" y="3893371"/>
            <a:ext cx="3847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BAFF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00BAFF"/>
                </a:solidFill>
                <a:latin typeface="Arial"/>
                <a:ea typeface="Arial"/>
                <a:cs typeface="Arial"/>
                <a:sym typeface="Arial"/>
              </a:rPr>
              <a:t>Feedback loop:</a:t>
            </a:r>
            <a:r>
              <a:rPr b="0" i="0" lang="en-GB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 ratings stored in analysis_json shape future quality scoring — system learns from user judgement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7"/>
          <p:cNvSpPr/>
          <p:nvPr/>
        </p:nvSpPr>
        <p:spPr>
          <a:xfrm>
            <a:off x="634901" y="4832449"/>
            <a:ext cx="1420588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NIT3003 | Victoria University | 2026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7"/>
          <p:cNvSpPr/>
          <p:nvPr/>
        </p:nvSpPr>
        <p:spPr>
          <a:xfrm>
            <a:off x="8664029" y="4832449"/>
            <a:ext cx="100950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m0xu/1-projects/capstone/pptx-workspace/slides/bg-white.png" id="505" name="Google Shape;50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107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28"/>
          <p:cNvSpPr/>
          <p:nvPr/>
        </p:nvSpPr>
        <p:spPr>
          <a:xfrm>
            <a:off x="7687866" y="253901"/>
            <a:ext cx="1075134" cy="463451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8"/>
          <p:cNvSpPr/>
          <p:nvPr/>
        </p:nvSpPr>
        <p:spPr>
          <a:xfrm>
            <a:off x="7749575" y="425350"/>
            <a:ext cx="12339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b="1" lang="en-GB" sz="900">
                <a:solidFill>
                  <a:schemeClr val="lt1"/>
                </a:solidFill>
              </a:rPr>
              <a:t>JAMAL HUSSEIN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t/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508" name="Google Shape;508;p28"/>
          <p:cNvSpPr/>
          <p:nvPr/>
        </p:nvSpPr>
        <p:spPr>
          <a:xfrm>
            <a:off x="634900" y="330100"/>
            <a:ext cx="6891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NON-FUNCTIONAL REQUIREMENTS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8"/>
          <p:cNvSpPr/>
          <p:nvPr/>
        </p:nvSpPr>
        <p:spPr>
          <a:xfrm>
            <a:off x="634901" y="704701"/>
            <a:ext cx="803168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A100FF"/>
                </a:solidFill>
                <a:latin typeface="Arial"/>
                <a:ea typeface="Arial"/>
                <a:cs typeface="Arial"/>
                <a:sym typeface="Arial"/>
              </a:rPr>
              <a:t>Performance, security, and usability targets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m0xu/1-projects/capstone/pptx-workspace/slides/underline-purple.png" id="510" name="Google Shape;51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901" y="888876"/>
            <a:ext cx="507950" cy="25301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28"/>
          <p:cNvSpPr/>
          <p:nvPr/>
        </p:nvSpPr>
        <p:spPr>
          <a:xfrm>
            <a:off x="634900" y="1148946"/>
            <a:ext cx="1953300" cy="3450600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2" name="Google Shape;512;p28"/>
          <p:cNvCxnSpPr/>
          <p:nvPr/>
        </p:nvCxnSpPr>
        <p:spPr>
          <a:xfrm>
            <a:off x="634901" y="1168003"/>
            <a:ext cx="1873300" cy="0"/>
          </a:xfrm>
          <a:prstGeom prst="straightConnector1">
            <a:avLst/>
          </a:prstGeom>
          <a:noFill/>
          <a:ln cap="flat" cmpd="sng" w="38100">
            <a:solidFill>
              <a:srgbClr val="00BA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3" name="Google Shape;513;p28"/>
          <p:cNvSpPr/>
          <p:nvPr/>
        </p:nvSpPr>
        <p:spPr>
          <a:xfrm>
            <a:off x="761851" y="1415504"/>
            <a:ext cx="1651787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AFF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00BAFF"/>
                </a:solidFill>
                <a:latin typeface="Arial"/>
                <a:ea typeface="Arial"/>
                <a:cs typeface="Arial"/>
                <a:sym typeface="Arial"/>
              </a:rPr>
              <a:t>PERFORMANCE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8"/>
          <p:cNvSpPr/>
          <p:nvPr/>
        </p:nvSpPr>
        <p:spPr>
          <a:xfrm>
            <a:off x="761851" y="1631305"/>
            <a:ext cx="1651787" cy="812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Dashboard: </a:t>
            </a:r>
            <a:r>
              <a:rPr b="1" i="0" lang="en-GB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&lt; 2s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7777"/>
              </a:lnSpc>
              <a:spcBef>
                <a:spcPts val="150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Short-form AI: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15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&lt; 15s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7777"/>
              </a:lnSpc>
              <a:spcBef>
                <a:spcPts val="150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Long-form AI: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15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&lt; 45s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7777"/>
              </a:lnSpc>
              <a:spcBef>
                <a:spcPts val="150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API p95: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15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&lt; 250ms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8"/>
          <p:cNvSpPr/>
          <p:nvPr/>
        </p:nvSpPr>
        <p:spPr>
          <a:xfrm>
            <a:off x="2635150" y="1148949"/>
            <a:ext cx="1873500" cy="2025600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6" name="Google Shape;516;p28"/>
          <p:cNvCxnSpPr/>
          <p:nvPr/>
        </p:nvCxnSpPr>
        <p:spPr>
          <a:xfrm>
            <a:off x="2635151" y="1168003"/>
            <a:ext cx="1873448" cy="0"/>
          </a:xfrm>
          <a:prstGeom prst="straightConnector1">
            <a:avLst/>
          </a:prstGeom>
          <a:noFill/>
          <a:ln cap="flat" cmpd="sng" w="38100">
            <a:solidFill>
              <a:srgbClr val="A1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7" name="Google Shape;517;p28"/>
          <p:cNvSpPr/>
          <p:nvPr/>
        </p:nvSpPr>
        <p:spPr>
          <a:xfrm>
            <a:off x="2762101" y="1415504"/>
            <a:ext cx="165193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A100FF"/>
                </a:solidFill>
                <a:latin typeface="Arial"/>
                <a:ea typeface="Arial"/>
                <a:cs typeface="Arial"/>
                <a:sym typeface="Arial"/>
              </a:rPr>
              <a:t>SECURITY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8"/>
          <p:cNvSpPr/>
          <p:nvPr/>
        </p:nvSpPr>
        <p:spPr>
          <a:xfrm>
            <a:off x="2762101" y="1631305"/>
            <a:ext cx="1651939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TLS 1.3 encryption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150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bcrypt / Argon2id hashing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150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API keys in env vars only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150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Parameterized SQL queries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8"/>
          <p:cNvSpPr/>
          <p:nvPr/>
        </p:nvSpPr>
        <p:spPr>
          <a:xfrm>
            <a:off x="4635550" y="1148953"/>
            <a:ext cx="1873300" cy="1535609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0" name="Google Shape;520;p28"/>
          <p:cNvCxnSpPr/>
          <p:nvPr/>
        </p:nvCxnSpPr>
        <p:spPr>
          <a:xfrm>
            <a:off x="4635550" y="1168003"/>
            <a:ext cx="1873300" cy="0"/>
          </a:xfrm>
          <a:prstGeom prst="straightConnector1">
            <a:avLst/>
          </a:prstGeom>
          <a:noFill/>
          <a:ln cap="flat" cmpd="sng" w="38100">
            <a:solidFill>
              <a:srgbClr val="00BA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1" name="Google Shape;521;p28"/>
          <p:cNvSpPr/>
          <p:nvPr/>
        </p:nvSpPr>
        <p:spPr>
          <a:xfrm>
            <a:off x="4762500" y="1415504"/>
            <a:ext cx="1651787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AFF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00BAFF"/>
                </a:solidFill>
                <a:latin typeface="Arial"/>
                <a:ea typeface="Arial"/>
                <a:cs typeface="Arial"/>
                <a:sym typeface="Arial"/>
              </a:rPr>
              <a:t>SCALABILITY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8"/>
          <p:cNvSpPr/>
          <p:nvPr/>
        </p:nvSpPr>
        <p:spPr>
          <a:xfrm>
            <a:off x="4762500" y="1631305"/>
            <a:ext cx="1651787" cy="609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r>
              <a:rPr b="0" i="0" lang="en-GB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concurrent users</a:t>
            </a:r>
            <a:br>
              <a:rPr b="0" i="0" lang="en-GB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GB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100+</a:t>
            </a:r>
            <a:r>
              <a:rPr b="0" i="0" lang="en-GB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req/min with queueing</a:t>
            </a:r>
            <a:br>
              <a:rPr b="0" i="0" lang="en-GB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GB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99.9%</a:t>
            </a:r>
            <a:r>
              <a:rPr b="0" i="0" lang="en-GB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uptime target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8"/>
          <p:cNvSpPr/>
          <p:nvPr/>
        </p:nvSpPr>
        <p:spPr>
          <a:xfrm>
            <a:off x="6635800" y="1148949"/>
            <a:ext cx="1873500" cy="2025600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4" name="Google Shape;524;p28"/>
          <p:cNvCxnSpPr/>
          <p:nvPr/>
        </p:nvCxnSpPr>
        <p:spPr>
          <a:xfrm>
            <a:off x="6635800" y="1168003"/>
            <a:ext cx="1873300" cy="0"/>
          </a:xfrm>
          <a:prstGeom prst="straightConnector1">
            <a:avLst/>
          </a:prstGeom>
          <a:noFill/>
          <a:ln cap="flat" cmpd="sng" w="38100">
            <a:solidFill>
              <a:srgbClr val="A1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5" name="Google Shape;525;p28"/>
          <p:cNvSpPr/>
          <p:nvPr/>
        </p:nvSpPr>
        <p:spPr>
          <a:xfrm>
            <a:off x="6762750" y="1415504"/>
            <a:ext cx="1651787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A100FF"/>
                </a:solidFill>
                <a:latin typeface="Arial"/>
                <a:ea typeface="Arial"/>
                <a:cs typeface="Arial"/>
                <a:sym typeface="Arial"/>
              </a:rPr>
              <a:t>USABILITY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8"/>
          <p:cNvSpPr/>
          <p:nvPr/>
        </p:nvSpPr>
        <p:spPr>
          <a:xfrm>
            <a:off x="6762750" y="1631305"/>
            <a:ext cx="1651787" cy="7512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Core task in </a:t>
            </a:r>
            <a:r>
              <a:rPr b="1" i="0" lang="en-GB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5 clicks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7777"/>
              </a:lnSpc>
              <a:spcBef>
                <a:spcPts val="150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WCAG 2.1 Level AA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7777"/>
              </a:lnSpc>
              <a:spcBef>
                <a:spcPts val="150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Responsive: desktop + tablet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7777"/>
              </a:lnSpc>
              <a:spcBef>
                <a:spcPts val="150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Non-technical language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8"/>
          <p:cNvSpPr/>
          <p:nvPr/>
        </p:nvSpPr>
        <p:spPr>
          <a:xfrm>
            <a:off x="634901" y="4832449"/>
            <a:ext cx="1420588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NIT3003 | Victoria University | 2026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8"/>
          <p:cNvSpPr/>
          <p:nvPr/>
        </p:nvSpPr>
        <p:spPr>
          <a:xfrm>
            <a:off x="8713440" y="4832449"/>
            <a:ext cx="50551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9"/>
          <p:cNvSpPr/>
          <p:nvPr/>
        </p:nvSpPr>
        <p:spPr>
          <a:xfrm>
            <a:off x="7476083" y="253901"/>
            <a:ext cx="1286917" cy="463451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9"/>
          <p:cNvSpPr/>
          <p:nvPr/>
        </p:nvSpPr>
        <p:spPr>
          <a:xfrm>
            <a:off x="7653784" y="418951"/>
            <a:ext cx="95014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JAMAL HUSSEIN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9"/>
          <p:cNvSpPr/>
          <p:nvPr/>
        </p:nvSpPr>
        <p:spPr>
          <a:xfrm>
            <a:off x="507950" y="330101"/>
            <a:ext cx="8290661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INTERFACE DESIGN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9"/>
          <p:cNvSpPr/>
          <p:nvPr/>
        </p:nvSpPr>
        <p:spPr>
          <a:xfrm>
            <a:off x="507950" y="676126"/>
            <a:ext cx="8290661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A100FF"/>
                </a:solidFill>
                <a:latin typeface="Arial"/>
                <a:ea typeface="Arial"/>
                <a:cs typeface="Arial"/>
                <a:sym typeface="Arial"/>
              </a:rPr>
              <a:t>Designed for non-technical business owners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m0xu/1-projects/capstone/pptx-workspace/slides/underline-purple.png" id="538" name="Google Shape;53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950" y="1054001"/>
            <a:ext cx="507950" cy="25301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29"/>
          <p:cNvSpPr/>
          <p:nvPr/>
        </p:nvSpPr>
        <p:spPr>
          <a:xfrm>
            <a:off x="507950" y="1174254"/>
            <a:ext cx="466344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A100FF"/>
                </a:solidFill>
                <a:latin typeface="Arial"/>
                <a:ea typeface="Arial"/>
                <a:cs typeface="Arial"/>
                <a:sym typeface="Arial"/>
              </a:rPr>
              <a:t>CONTENT GENERATION VIEW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9"/>
          <p:cNvSpPr/>
          <p:nvPr/>
        </p:nvSpPr>
        <p:spPr>
          <a:xfrm>
            <a:off x="507950" y="1339304"/>
            <a:ext cx="4572000" cy="2486620"/>
          </a:xfrm>
          <a:prstGeom prst="roundRect">
            <a:avLst>
              <a:gd fmla="val 2043" name="adj"/>
            </a:avLst>
          </a:prstGeom>
          <a:solidFill>
            <a:srgbClr val="F8F8FA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9"/>
          <p:cNvSpPr/>
          <p:nvPr/>
        </p:nvSpPr>
        <p:spPr>
          <a:xfrm>
            <a:off x="644426" y="1577280"/>
            <a:ext cx="4385030" cy="162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555555"/>
                </a:solidFill>
                <a:latin typeface="Courier New"/>
                <a:ea typeface="Courier New"/>
                <a:cs typeface="Courier New"/>
                <a:sym typeface="Courier New"/>
              </a:rPr>
              <a:t>Sidebar  |  Two-Column Layout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9"/>
          <p:cNvSpPr/>
          <p:nvPr/>
        </p:nvSpPr>
        <p:spPr>
          <a:xfrm>
            <a:off x="644426" y="1841302"/>
            <a:ext cx="4385030" cy="162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555555"/>
                </a:solidFill>
                <a:latin typeface="Courier New"/>
                <a:ea typeface="Courier New"/>
                <a:cs typeface="Courier New"/>
                <a:sym typeface="Courier New"/>
              </a:rPr>
              <a:t>LEFT: [ Type v ] [ Topic ] [ Keywords 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9"/>
          <p:cNvSpPr/>
          <p:nvPr/>
        </p:nvSpPr>
        <p:spPr>
          <a:xfrm>
            <a:off x="644426" y="2105323"/>
            <a:ext cx="4385030" cy="162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555555"/>
                </a:solidFill>
                <a:latin typeface="Courier New"/>
                <a:ea typeface="Courier New"/>
                <a:cs typeface="Courier New"/>
                <a:sym typeface="Courier New"/>
              </a:rPr>
              <a:t>[ &gt; Generate Content 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9"/>
          <p:cNvSpPr/>
          <p:nvPr/>
        </p:nvSpPr>
        <p:spPr>
          <a:xfrm>
            <a:off x="644426" y="2369344"/>
            <a:ext cx="4385030" cy="162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555555"/>
                </a:solidFill>
                <a:latin typeface="Courier New"/>
                <a:ea typeface="Courier New"/>
                <a:cs typeface="Courier New"/>
                <a:sym typeface="Courier New"/>
              </a:rPr>
              <a:t>RIGHT: | AI-generated content   |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9"/>
          <p:cNvSpPr/>
          <p:nvPr/>
        </p:nvSpPr>
        <p:spPr>
          <a:xfrm>
            <a:off x="644426" y="2633365"/>
            <a:ext cx="4385030" cy="162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555555"/>
                </a:solidFill>
                <a:latin typeface="Courier New"/>
                <a:ea typeface="Courier New"/>
                <a:cs typeface="Courier New"/>
                <a:sym typeface="Courier New"/>
              </a:rPr>
              <a:t>| in rich-text editor    |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9"/>
          <p:cNvSpPr/>
          <p:nvPr/>
        </p:nvSpPr>
        <p:spPr>
          <a:xfrm>
            <a:off x="644426" y="2897386"/>
            <a:ext cx="4385030" cy="162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555555"/>
                </a:solidFill>
                <a:latin typeface="Courier New"/>
                <a:ea typeface="Courier New"/>
                <a:cs typeface="Courier New"/>
                <a:sym typeface="Courier New"/>
              </a:rPr>
              <a:t>Quality: ######### 0.78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9"/>
          <p:cNvSpPr/>
          <p:nvPr/>
        </p:nvSpPr>
        <p:spPr>
          <a:xfrm>
            <a:off x="644426" y="3161407"/>
            <a:ext cx="4385030" cy="162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555555"/>
                </a:solidFill>
                <a:latin typeface="Courier New"/>
                <a:ea typeface="Courier New"/>
                <a:cs typeface="Courier New"/>
                <a:sym typeface="Courier New"/>
              </a:rPr>
              <a:t>Rating:  *****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9"/>
          <p:cNvSpPr/>
          <p:nvPr/>
        </p:nvSpPr>
        <p:spPr>
          <a:xfrm>
            <a:off x="644426" y="3425428"/>
            <a:ext cx="4385030" cy="162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ourier New"/>
              <a:buNone/>
            </a:pPr>
            <a:r>
              <a:rPr b="0" i="0" lang="en-GB" sz="800" u="none" cap="none" strike="noStrike">
                <a:solidFill>
                  <a:srgbClr val="555555"/>
                </a:solidFill>
                <a:latin typeface="Courier New"/>
                <a:ea typeface="Courier New"/>
                <a:cs typeface="Courier New"/>
                <a:sym typeface="Courier New"/>
              </a:rPr>
              <a:t>[ Copy ]   [ Discard 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9"/>
          <p:cNvSpPr/>
          <p:nvPr/>
        </p:nvSpPr>
        <p:spPr>
          <a:xfrm>
            <a:off x="5206901" y="1072753"/>
            <a:ext cx="3301901" cy="1394073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0" name="Google Shape;550;p29"/>
          <p:cNvCxnSpPr/>
          <p:nvPr/>
        </p:nvCxnSpPr>
        <p:spPr>
          <a:xfrm>
            <a:off x="5225951" y="1072753"/>
            <a:ext cx="0" cy="1394073"/>
          </a:xfrm>
          <a:prstGeom prst="straightConnector1">
            <a:avLst/>
          </a:prstGeom>
          <a:noFill/>
          <a:ln cap="flat" cmpd="sng" w="38100">
            <a:solidFill>
              <a:srgbClr val="A1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1" name="Google Shape;551;p29"/>
          <p:cNvSpPr/>
          <p:nvPr/>
        </p:nvSpPr>
        <p:spPr>
          <a:xfrm>
            <a:off x="5371951" y="1301204"/>
            <a:ext cx="307009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A100FF"/>
                </a:solidFill>
                <a:latin typeface="Arial"/>
                <a:ea typeface="Arial"/>
                <a:cs typeface="Arial"/>
                <a:sym typeface="Arial"/>
              </a:rPr>
              <a:t>DESIGN PRINCIPLES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9"/>
          <p:cNvSpPr/>
          <p:nvPr/>
        </p:nvSpPr>
        <p:spPr>
          <a:xfrm>
            <a:off x="5371951" y="1517005"/>
            <a:ext cx="3070098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5-click rule</a:t>
            </a:r>
            <a:r>
              <a:rPr b="0" i="0" lang="en-GB" sz="9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 for core task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9"/>
          <p:cNvSpPr/>
          <p:nvPr/>
        </p:nvSpPr>
        <p:spPr>
          <a:xfrm>
            <a:off x="5371951" y="1791295"/>
            <a:ext cx="3070098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WCAG 2.1 AA</a:t>
            </a:r>
            <a:r>
              <a:rPr b="0" i="0" lang="en-GB" sz="9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 accessible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9"/>
          <p:cNvSpPr/>
          <p:nvPr/>
        </p:nvSpPr>
        <p:spPr>
          <a:xfrm>
            <a:off x="5371951" y="2065586"/>
            <a:ext cx="3070098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Responsive</a:t>
            </a:r>
            <a:r>
              <a:rPr b="0" i="0" lang="en-GB" sz="9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 desktop + tablet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9"/>
          <p:cNvSpPr/>
          <p:nvPr/>
        </p:nvSpPr>
        <p:spPr>
          <a:xfrm>
            <a:off x="5206901" y="2568327"/>
            <a:ext cx="3301901" cy="1005483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6" name="Google Shape;556;p29"/>
          <p:cNvCxnSpPr/>
          <p:nvPr/>
        </p:nvCxnSpPr>
        <p:spPr>
          <a:xfrm>
            <a:off x="5225951" y="2568327"/>
            <a:ext cx="0" cy="1005483"/>
          </a:xfrm>
          <a:prstGeom prst="straightConnector1">
            <a:avLst/>
          </a:prstGeom>
          <a:noFill/>
          <a:ln cap="flat" cmpd="sng" w="38100">
            <a:solidFill>
              <a:srgbClr val="A1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7" name="Google Shape;557;p29"/>
          <p:cNvSpPr/>
          <p:nvPr/>
        </p:nvSpPr>
        <p:spPr>
          <a:xfrm>
            <a:off x="5371951" y="2796778"/>
            <a:ext cx="307009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A100FF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9"/>
          <p:cNvSpPr/>
          <p:nvPr/>
        </p:nvSpPr>
        <p:spPr>
          <a:xfrm>
            <a:off x="5371951" y="3012579"/>
            <a:ext cx="3070098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Metric cards: drafts, generation count, avg quality. History table with type filter and delete.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9"/>
          <p:cNvSpPr/>
          <p:nvPr/>
        </p:nvSpPr>
        <p:spPr>
          <a:xfrm>
            <a:off x="634901" y="4832449"/>
            <a:ext cx="1420588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NIT3003 | Victoria University | 2026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9"/>
          <p:cNvSpPr/>
          <p:nvPr/>
        </p:nvSpPr>
        <p:spPr>
          <a:xfrm>
            <a:off x="8664029" y="4832449"/>
            <a:ext cx="100950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1" name="Google Shape;56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896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29"/>
          <p:cNvSpPr txBox="1"/>
          <p:nvPr/>
        </p:nvSpPr>
        <p:spPr>
          <a:xfrm>
            <a:off x="7380975" y="177850"/>
            <a:ext cx="147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JAMAL HUSSEIN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0"/>
          <p:cNvSpPr/>
          <p:nvPr/>
        </p:nvSpPr>
        <p:spPr>
          <a:xfrm>
            <a:off x="3269625" y="303151"/>
            <a:ext cx="4404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RISK MANAGEMENT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30"/>
          <p:cNvSpPr/>
          <p:nvPr/>
        </p:nvSpPr>
        <p:spPr>
          <a:xfrm>
            <a:off x="507950" y="647551"/>
            <a:ext cx="440430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A100FF"/>
                </a:solidFill>
                <a:latin typeface="Arial"/>
                <a:ea typeface="Arial"/>
                <a:cs typeface="Arial"/>
                <a:sym typeface="Arial"/>
              </a:rPr>
              <a:t>Key risks and mitigations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m0xu/1-projects/capstone/pptx-workspace/slides/underline-purple.png" id="570" name="Google Shape;57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475" y="952437"/>
            <a:ext cx="745953" cy="371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1" name="Google Shape;571;p30"/>
          <p:cNvCxnSpPr/>
          <p:nvPr/>
        </p:nvCxnSpPr>
        <p:spPr>
          <a:xfrm>
            <a:off x="990475" y="1655990"/>
            <a:ext cx="6341100" cy="0"/>
          </a:xfrm>
          <a:prstGeom prst="straightConnector1">
            <a:avLst/>
          </a:prstGeom>
          <a:noFill/>
          <a:ln cap="flat" cmpd="sng" w="27975">
            <a:solidFill>
              <a:srgbClr val="A1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2" name="Google Shape;572;p30"/>
          <p:cNvSpPr/>
          <p:nvPr/>
        </p:nvSpPr>
        <p:spPr>
          <a:xfrm>
            <a:off x="990475" y="1259735"/>
            <a:ext cx="2092500" cy="1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Pts val="1028"/>
              <a:buFont typeface="Arial"/>
              <a:buNone/>
            </a:pPr>
            <a:r>
              <a:rPr b="1" i="0" lang="en-GB" sz="1027" u="none" cap="none" strike="noStrike">
                <a:solidFill>
                  <a:srgbClr val="A100FF"/>
                </a:solidFill>
                <a:latin typeface="Arial"/>
                <a:ea typeface="Arial"/>
                <a:cs typeface="Arial"/>
                <a:sym typeface="Arial"/>
              </a:rPr>
              <a:t>RISK</a:t>
            </a:r>
            <a:endParaRPr b="0" i="0" sz="10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30"/>
          <p:cNvSpPr/>
          <p:nvPr/>
        </p:nvSpPr>
        <p:spPr>
          <a:xfrm>
            <a:off x="3041901" y="1259735"/>
            <a:ext cx="837000" cy="1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Pts val="1028"/>
              <a:buFont typeface="Arial"/>
              <a:buNone/>
            </a:pPr>
            <a:r>
              <a:rPr b="1" i="0" lang="en-GB" sz="1027" u="none" cap="none" strike="noStrike">
                <a:solidFill>
                  <a:srgbClr val="A100FF"/>
                </a:solidFill>
                <a:latin typeface="Arial"/>
                <a:ea typeface="Arial"/>
                <a:cs typeface="Arial"/>
                <a:sym typeface="Arial"/>
              </a:rPr>
              <a:t>LEVEL</a:t>
            </a:r>
            <a:endParaRPr b="0" i="0" sz="10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30"/>
          <p:cNvSpPr/>
          <p:nvPr/>
        </p:nvSpPr>
        <p:spPr>
          <a:xfrm>
            <a:off x="3862385" y="1259735"/>
            <a:ext cx="3234000" cy="1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Pts val="1028"/>
              <a:buFont typeface="Arial"/>
              <a:buNone/>
            </a:pPr>
            <a:r>
              <a:rPr b="1" i="0" lang="en-GB" sz="1027" u="none" cap="none" strike="noStrike">
                <a:solidFill>
                  <a:srgbClr val="A100FF"/>
                </a:solidFill>
                <a:latin typeface="Arial"/>
                <a:ea typeface="Arial"/>
                <a:cs typeface="Arial"/>
                <a:sym typeface="Arial"/>
              </a:rPr>
              <a:t>MITIGATION</a:t>
            </a:r>
            <a:endParaRPr b="0" i="0" sz="10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5" name="Google Shape;575;p30"/>
          <p:cNvCxnSpPr/>
          <p:nvPr/>
        </p:nvCxnSpPr>
        <p:spPr>
          <a:xfrm>
            <a:off x="990475" y="2375934"/>
            <a:ext cx="6341100" cy="0"/>
          </a:xfrm>
          <a:prstGeom prst="straightConnector1">
            <a:avLst/>
          </a:prstGeom>
          <a:noFill/>
          <a:ln cap="flat" cmpd="sng" w="140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6" name="Google Shape;576;p30"/>
          <p:cNvSpPr/>
          <p:nvPr/>
        </p:nvSpPr>
        <p:spPr>
          <a:xfrm>
            <a:off x="990475" y="1935531"/>
            <a:ext cx="20925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75"/>
              <a:buFont typeface="Arial"/>
              <a:buNone/>
            </a:pPr>
            <a:r>
              <a:rPr b="0" i="0" lang="en-GB" sz="1174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API service downtime</a:t>
            </a:r>
            <a:endParaRPr b="0" i="0" sz="11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30"/>
          <p:cNvSpPr/>
          <p:nvPr/>
        </p:nvSpPr>
        <p:spPr>
          <a:xfrm>
            <a:off x="3041901" y="1781882"/>
            <a:ext cx="820500" cy="475200"/>
          </a:xfrm>
          <a:prstGeom prst="roundRect">
            <a:avLst>
              <a:gd fmla="val 7850" name="adj"/>
            </a:avLst>
          </a:prstGeom>
          <a:solidFill>
            <a:srgbClr val="A100FF">
              <a:alpha val="10196"/>
            </a:srgbClr>
          </a:solidFill>
          <a:ln>
            <a:noFill/>
          </a:ln>
        </p:spPr>
        <p:txBody>
          <a:bodyPr anchorCtr="0" anchor="ctr" bIns="67125" lIns="134275" spcFirstLastPara="1" rIns="134275" wrap="square" tIns="6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3"/>
              <a:buFont typeface="Calibri"/>
              <a:buNone/>
            </a:pPr>
            <a:r>
              <a:t/>
            </a:r>
            <a:endParaRPr b="0" i="0" sz="264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30"/>
          <p:cNvSpPr/>
          <p:nvPr/>
        </p:nvSpPr>
        <p:spPr>
          <a:xfrm>
            <a:off x="3153805" y="1949519"/>
            <a:ext cx="608700" cy="1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Pts val="1028"/>
              <a:buFont typeface="Arial"/>
              <a:buNone/>
            </a:pPr>
            <a:r>
              <a:rPr b="1" i="0" lang="en-GB" sz="1027" u="none" cap="none" strike="noStrike">
                <a:solidFill>
                  <a:srgbClr val="A100FF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 b="0" i="0" sz="10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30"/>
          <p:cNvSpPr/>
          <p:nvPr/>
        </p:nvSpPr>
        <p:spPr>
          <a:xfrm>
            <a:off x="3862385" y="1935531"/>
            <a:ext cx="32340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75"/>
              <a:buFont typeface="Arial"/>
              <a:buNone/>
            </a:pPr>
            <a:r>
              <a:rPr b="0" i="0" lang="en-GB" sz="1174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Retry logic + GPT-3.5 fallback + graceful errors</a:t>
            </a:r>
            <a:endParaRPr b="0" i="0" sz="11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0" name="Google Shape;580;p30"/>
          <p:cNvCxnSpPr/>
          <p:nvPr/>
        </p:nvCxnSpPr>
        <p:spPr>
          <a:xfrm>
            <a:off x="990475" y="3088886"/>
            <a:ext cx="6341100" cy="0"/>
          </a:xfrm>
          <a:prstGeom prst="straightConnector1">
            <a:avLst/>
          </a:prstGeom>
          <a:noFill/>
          <a:ln cap="flat" cmpd="sng" w="140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1" name="Google Shape;581;p30"/>
          <p:cNvSpPr/>
          <p:nvPr/>
        </p:nvSpPr>
        <p:spPr>
          <a:xfrm>
            <a:off x="990475" y="2648482"/>
            <a:ext cx="20925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75"/>
              <a:buFont typeface="Arial"/>
              <a:buNone/>
            </a:pPr>
            <a:r>
              <a:rPr b="0" i="0" lang="en-GB" sz="1174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Scope creep</a:t>
            </a:r>
            <a:endParaRPr b="0" i="0" sz="11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30"/>
          <p:cNvSpPr/>
          <p:nvPr/>
        </p:nvSpPr>
        <p:spPr>
          <a:xfrm>
            <a:off x="3041901" y="2494832"/>
            <a:ext cx="820500" cy="475200"/>
          </a:xfrm>
          <a:prstGeom prst="roundRect">
            <a:avLst>
              <a:gd fmla="val 7850" name="adj"/>
            </a:avLst>
          </a:prstGeom>
          <a:solidFill>
            <a:srgbClr val="A100FF">
              <a:alpha val="10196"/>
            </a:srgbClr>
          </a:solidFill>
          <a:ln>
            <a:noFill/>
          </a:ln>
        </p:spPr>
        <p:txBody>
          <a:bodyPr anchorCtr="0" anchor="ctr" bIns="67125" lIns="134275" spcFirstLastPara="1" rIns="134275" wrap="square" tIns="6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3"/>
              <a:buFont typeface="Calibri"/>
              <a:buNone/>
            </a:pPr>
            <a:r>
              <a:t/>
            </a:r>
            <a:endParaRPr b="0" i="0" sz="264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30"/>
          <p:cNvSpPr/>
          <p:nvPr/>
        </p:nvSpPr>
        <p:spPr>
          <a:xfrm>
            <a:off x="3153805" y="2662470"/>
            <a:ext cx="608700" cy="1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Pts val="1028"/>
              <a:buFont typeface="Arial"/>
              <a:buNone/>
            </a:pPr>
            <a:r>
              <a:rPr b="1" i="0" lang="en-GB" sz="1027" u="none" cap="none" strike="noStrike">
                <a:solidFill>
                  <a:srgbClr val="A100FF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 b="0" i="0" sz="10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30"/>
          <p:cNvSpPr/>
          <p:nvPr/>
        </p:nvSpPr>
        <p:spPr>
          <a:xfrm>
            <a:off x="3862385" y="2648482"/>
            <a:ext cx="32340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75"/>
              <a:buFont typeface="Arial"/>
              <a:buNone/>
            </a:pPr>
            <a:r>
              <a:rPr b="0" i="0" lang="en-GB" sz="1174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Strict in/out scope boundary documented</a:t>
            </a:r>
            <a:endParaRPr b="0" i="0" sz="11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5" name="Google Shape;585;p30"/>
          <p:cNvCxnSpPr/>
          <p:nvPr/>
        </p:nvCxnSpPr>
        <p:spPr>
          <a:xfrm>
            <a:off x="990475" y="3960512"/>
            <a:ext cx="6341100" cy="0"/>
          </a:xfrm>
          <a:prstGeom prst="straightConnector1">
            <a:avLst/>
          </a:prstGeom>
          <a:noFill/>
          <a:ln cap="flat" cmpd="sng" w="140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6" name="Google Shape;586;p30"/>
          <p:cNvSpPr/>
          <p:nvPr/>
        </p:nvSpPr>
        <p:spPr>
          <a:xfrm>
            <a:off x="990475" y="3440771"/>
            <a:ext cx="20925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75"/>
              <a:buFont typeface="Arial"/>
              <a:buNone/>
            </a:pPr>
            <a:r>
              <a:rPr b="0" i="0" lang="en-GB" sz="1174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Data security breach</a:t>
            </a:r>
            <a:endParaRPr b="0" i="0" sz="11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30"/>
          <p:cNvSpPr/>
          <p:nvPr/>
        </p:nvSpPr>
        <p:spPr>
          <a:xfrm>
            <a:off x="3041901" y="3287122"/>
            <a:ext cx="820500" cy="475200"/>
          </a:xfrm>
          <a:prstGeom prst="roundRect">
            <a:avLst>
              <a:gd fmla="val 7850" name="adj"/>
            </a:avLst>
          </a:prstGeom>
          <a:solidFill>
            <a:srgbClr val="A100FF">
              <a:alpha val="10196"/>
            </a:srgbClr>
          </a:solidFill>
          <a:ln>
            <a:noFill/>
          </a:ln>
        </p:spPr>
        <p:txBody>
          <a:bodyPr anchorCtr="0" anchor="ctr" bIns="67125" lIns="134275" spcFirstLastPara="1" rIns="134275" wrap="square" tIns="6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3"/>
              <a:buFont typeface="Calibri"/>
              <a:buNone/>
            </a:pPr>
            <a:r>
              <a:t/>
            </a:r>
            <a:endParaRPr b="0" i="0" sz="264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30"/>
          <p:cNvSpPr/>
          <p:nvPr/>
        </p:nvSpPr>
        <p:spPr>
          <a:xfrm>
            <a:off x="3153805" y="3454759"/>
            <a:ext cx="608700" cy="1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Pts val="1028"/>
              <a:buFont typeface="Arial"/>
              <a:buNone/>
            </a:pPr>
            <a:r>
              <a:rPr b="1" i="0" lang="en-GB" sz="1027" u="none" cap="none" strike="noStrike">
                <a:solidFill>
                  <a:srgbClr val="A100FF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 b="0" i="0" sz="10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30"/>
          <p:cNvSpPr/>
          <p:nvPr/>
        </p:nvSpPr>
        <p:spPr>
          <a:xfrm>
            <a:off x="3862385" y="3356843"/>
            <a:ext cx="32340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75"/>
              <a:buFont typeface="Arial"/>
              <a:buNone/>
            </a:pPr>
            <a:r>
              <a:rPr b="0" i="0" lang="en-GB" sz="1174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TLS 1.3, RLS, hashed passwords, env-var secrets</a:t>
            </a:r>
            <a:endParaRPr b="0" i="0" sz="11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0" name="Google Shape;590;p30"/>
          <p:cNvCxnSpPr/>
          <p:nvPr/>
        </p:nvCxnSpPr>
        <p:spPr>
          <a:xfrm>
            <a:off x="990475" y="4673464"/>
            <a:ext cx="6341100" cy="0"/>
          </a:xfrm>
          <a:prstGeom prst="straightConnector1">
            <a:avLst/>
          </a:prstGeom>
          <a:noFill/>
          <a:ln cap="flat" cmpd="sng" w="140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1" name="Google Shape;591;p30"/>
          <p:cNvSpPr/>
          <p:nvPr/>
        </p:nvSpPr>
        <p:spPr>
          <a:xfrm>
            <a:off x="990475" y="4233060"/>
            <a:ext cx="20925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75"/>
              <a:buFont typeface="Arial"/>
              <a:buNone/>
            </a:pPr>
            <a:r>
              <a:rPr b="0" i="0" lang="en-GB" sz="1174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Poor LLM output</a:t>
            </a:r>
            <a:endParaRPr b="0" i="0" sz="11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30"/>
          <p:cNvSpPr/>
          <p:nvPr/>
        </p:nvSpPr>
        <p:spPr>
          <a:xfrm>
            <a:off x="3041901" y="4079411"/>
            <a:ext cx="820500" cy="475200"/>
          </a:xfrm>
          <a:prstGeom prst="roundRect">
            <a:avLst>
              <a:gd fmla="val 7850" name="adj"/>
            </a:avLst>
          </a:prstGeom>
          <a:solidFill>
            <a:srgbClr val="00BAFF">
              <a:alpha val="10196"/>
            </a:srgbClr>
          </a:solidFill>
          <a:ln>
            <a:noFill/>
          </a:ln>
        </p:spPr>
        <p:txBody>
          <a:bodyPr anchorCtr="0" anchor="ctr" bIns="67125" lIns="134275" spcFirstLastPara="1" rIns="134275" wrap="square" tIns="6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3"/>
              <a:buFont typeface="Calibri"/>
              <a:buNone/>
            </a:pPr>
            <a:r>
              <a:t/>
            </a:r>
            <a:endParaRPr b="0" i="0" sz="264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30"/>
          <p:cNvSpPr/>
          <p:nvPr/>
        </p:nvSpPr>
        <p:spPr>
          <a:xfrm>
            <a:off x="3153805" y="4247048"/>
            <a:ext cx="608700" cy="1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AFF"/>
              </a:buClr>
              <a:buSzPts val="1028"/>
              <a:buFont typeface="Arial"/>
              <a:buNone/>
            </a:pPr>
            <a:r>
              <a:rPr b="1" i="0" lang="en-GB" sz="1027" u="none" cap="none" strike="noStrike">
                <a:solidFill>
                  <a:srgbClr val="00BAFF"/>
                </a:solidFill>
                <a:latin typeface="Arial"/>
                <a:ea typeface="Arial"/>
                <a:cs typeface="Arial"/>
                <a:sym typeface="Arial"/>
              </a:rPr>
              <a:t>MED</a:t>
            </a:r>
            <a:endParaRPr b="0" i="0" sz="10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30"/>
          <p:cNvSpPr/>
          <p:nvPr/>
        </p:nvSpPr>
        <p:spPr>
          <a:xfrm>
            <a:off x="3862385" y="4233060"/>
            <a:ext cx="32340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75"/>
              <a:buFont typeface="Arial"/>
              <a:buNone/>
            </a:pPr>
            <a:r>
              <a:rPr b="0" i="0" lang="en-GB" sz="1174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5-metric evaluation + auto-regeneration</a:t>
            </a:r>
            <a:endParaRPr b="0" i="0" sz="11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30"/>
          <p:cNvSpPr/>
          <p:nvPr/>
        </p:nvSpPr>
        <p:spPr>
          <a:xfrm>
            <a:off x="5079801" y="330100"/>
            <a:ext cx="2322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6" name="Google Shape;596;p30"/>
          <p:cNvCxnSpPr/>
          <p:nvPr/>
        </p:nvCxnSpPr>
        <p:spPr>
          <a:xfrm>
            <a:off x="7863500" y="3762269"/>
            <a:ext cx="0" cy="755700"/>
          </a:xfrm>
          <a:prstGeom prst="straightConnector1">
            <a:avLst/>
          </a:prstGeom>
          <a:noFill/>
          <a:ln cap="flat" cmpd="sng" w="55950">
            <a:solidFill>
              <a:srgbClr val="00BA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7" name="Google Shape;597;p30"/>
          <p:cNvSpPr/>
          <p:nvPr/>
        </p:nvSpPr>
        <p:spPr>
          <a:xfrm>
            <a:off x="634901" y="4832449"/>
            <a:ext cx="1420588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NIT3003 | Victoria University | 2026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30"/>
          <p:cNvSpPr/>
          <p:nvPr/>
        </p:nvSpPr>
        <p:spPr>
          <a:xfrm>
            <a:off x="8664029" y="4832449"/>
            <a:ext cx="100950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30"/>
          <p:cNvSpPr/>
          <p:nvPr/>
        </p:nvSpPr>
        <p:spPr>
          <a:xfrm>
            <a:off x="7476083" y="253901"/>
            <a:ext cx="1287000" cy="4635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30"/>
          <p:cNvSpPr txBox="1"/>
          <p:nvPr/>
        </p:nvSpPr>
        <p:spPr>
          <a:xfrm>
            <a:off x="7380975" y="177850"/>
            <a:ext cx="147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highlight>
                  <a:srgbClr val="9900FF"/>
                </a:highlight>
              </a:rPr>
              <a:t>JAMAL HUSSEIN</a:t>
            </a:r>
            <a:endParaRPr>
              <a:solidFill>
                <a:schemeClr val="lt1"/>
              </a:solidFill>
              <a:highlight>
                <a:srgbClr val="9900FF"/>
              </a:highlight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m0xu/1-projects/capstone/pptx-workspace/slides/bg-purple-texture.png" id="606" name="Google Shape;60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31"/>
          <p:cNvSpPr/>
          <p:nvPr/>
        </p:nvSpPr>
        <p:spPr>
          <a:xfrm>
            <a:off x="7476083" y="253901"/>
            <a:ext cx="1286917" cy="463451"/>
          </a:xfrm>
          <a:prstGeom prst="rect">
            <a:avLst/>
          </a:prstGeom>
          <a:solidFill>
            <a:srgbClr val="00BA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31"/>
          <p:cNvSpPr/>
          <p:nvPr/>
        </p:nvSpPr>
        <p:spPr>
          <a:xfrm>
            <a:off x="7686400" y="385600"/>
            <a:ext cx="9501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GB" sz="900">
                <a:solidFill>
                  <a:srgbClr val="FFFFFF"/>
                </a:solidFill>
              </a:rPr>
              <a:t>HAILU TESFAYE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31"/>
          <p:cNvSpPr/>
          <p:nvPr/>
        </p:nvSpPr>
        <p:spPr>
          <a:xfrm>
            <a:off x="634901" y="507950"/>
            <a:ext cx="8031682" cy="817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MORE THAN </a:t>
            </a:r>
            <a:r>
              <a:rPr b="1" i="0" lang="en-GB" sz="2800" u="none" cap="none" strike="noStrike">
                <a:solidFill>
                  <a:srgbClr val="00BAFF"/>
                </a:solidFill>
                <a:latin typeface="Arial"/>
                <a:ea typeface="Arial"/>
                <a:cs typeface="Arial"/>
                <a:sym typeface="Arial"/>
              </a:rPr>
              <a:t>A CHATGPT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BAFF"/>
              </a:buClr>
              <a:buSzPts val="2800"/>
              <a:buFont typeface="Arial"/>
              <a:buNone/>
            </a:pPr>
            <a:r>
              <a:rPr b="1" i="0" lang="en-GB" sz="2800" u="none" cap="none" strike="noStrike">
                <a:solidFill>
                  <a:srgbClr val="00BAFF"/>
                </a:solidFill>
                <a:latin typeface="Arial"/>
                <a:ea typeface="Arial"/>
                <a:cs typeface="Arial"/>
                <a:sym typeface="Arial"/>
              </a:rPr>
              <a:t>WRAPPER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m0xu/1-projects/capstone/pptx-workspace/slides/accent-bar.png" id="610" name="Google Shape;61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901" y="1573262"/>
            <a:ext cx="7620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31"/>
          <p:cNvSpPr/>
          <p:nvPr/>
        </p:nvSpPr>
        <p:spPr>
          <a:xfrm>
            <a:off x="634901" y="1668512"/>
            <a:ext cx="8031682" cy="177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BAFF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00BA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b="0" i="0" lang="en-GB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Structured prompt engineering</a:t>
            </a:r>
            <a:r>
              <a:rPr b="0" i="0" lang="en-GB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combining business context, type rules, and brand voice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31"/>
          <p:cNvSpPr/>
          <p:nvPr/>
        </p:nvSpPr>
        <p:spPr>
          <a:xfrm>
            <a:off x="634901" y="1973163"/>
            <a:ext cx="8031682" cy="177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BAFF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00BA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b="0" i="0" lang="en-GB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5-metric quality evaluation</a:t>
            </a:r>
            <a:r>
              <a:rPr b="0" i="0" lang="en-GB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that scores content before the user sees 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31"/>
          <p:cNvSpPr/>
          <p:nvPr/>
        </p:nvSpPr>
        <p:spPr>
          <a:xfrm>
            <a:off x="634901" y="2277814"/>
            <a:ext cx="8031682" cy="177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BAFF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00BA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b="0" i="0" lang="en-GB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User feedback loop</a:t>
            </a:r>
            <a:r>
              <a:rPr b="0" i="0" lang="en-GB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where star ratings actively shape future quality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31"/>
          <p:cNvSpPr/>
          <p:nvPr/>
        </p:nvSpPr>
        <p:spPr>
          <a:xfrm>
            <a:off x="634901" y="2582466"/>
            <a:ext cx="8031682" cy="177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BAFF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00BA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b="0" i="0" lang="en-GB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Fault-tolerant architecture</a:t>
            </a:r>
            <a:r>
              <a:rPr b="0" i="0" lang="en-GB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with retry logic, model fallback, graceful degradation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31"/>
          <p:cNvSpPr/>
          <p:nvPr/>
        </p:nvSpPr>
        <p:spPr>
          <a:xfrm>
            <a:off x="634901" y="3039517"/>
            <a:ext cx="803168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AFF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rgbClr val="00BAFF"/>
                </a:solidFill>
                <a:latin typeface="Arial"/>
                <a:ea typeface="Arial"/>
                <a:cs typeface="Arial"/>
                <a:sym typeface="Arial"/>
              </a:rPr>
              <a:t>Questions?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31"/>
          <p:cNvSpPr/>
          <p:nvPr/>
        </p:nvSpPr>
        <p:spPr>
          <a:xfrm>
            <a:off x="634901" y="3642717"/>
            <a:ext cx="803168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Hailu  |  Daniel  |  Semir  |  Jamal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31"/>
          <p:cNvSpPr/>
          <p:nvPr/>
        </p:nvSpPr>
        <p:spPr>
          <a:xfrm>
            <a:off x="634901" y="4832449"/>
            <a:ext cx="1420588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NIT3003 | Victoria University | 2026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31"/>
          <p:cNvSpPr/>
          <p:nvPr/>
        </p:nvSpPr>
        <p:spPr>
          <a:xfrm>
            <a:off x="8664029" y="4832449"/>
            <a:ext cx="100950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